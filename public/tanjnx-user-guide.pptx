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43D346-E830-4A74-9F1C-4E3CFD30BD34}"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73C665-6086-4ED2-96AF-CADD5D987B9B}" type="slidenum">
              <a:rPr lang="en-IN" smtClean="0"/>
              <a:t>‹#›</a:t>
            </a:fld>
            <a:endParaRPr lang="en-IN"/>
          </a:p>
        </p:txBody>
      </p:sp>
    </p:spTree>
    <p:extLst>
      <p:ext uri="{BB962C8B-B14F-4D97-AF65-F5344CB8AC3E}">
        <p14:creationId xmlns:p14="http://schemas.microsoft.com/office/powerpoint/2010/main" val="3273883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app/SimulationStudio.tsx, app/os-case-evidence.ts. The application is a browser prototype with calculated simulations. No live company systems, provider model, external solver, enrolled device or production action service is connected. Company names identify educational examples. The deck does not represent these companies as customers.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a:t>
            </a:fld>
            <a:endParaRPr lang="en-IN"/>
          </a:p>
        </p:txBody>
      </p:sp>
    </p:spTree>
    <p:extLst>
      <p:ext uri="{BB962C8B-B14F-4D97-AF65-F5344CB8AC3E}">
        <p14:creationId xmlns:p14="http://schemas.microsoft.com/office/powerpoint/2010/main" val="36573905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The application is a browser prototype with calculated simulations. No live company systems, provider model, external solver, enrolled device or production action service is connected. Native deep link: /?view=os&amp;osProject=apple-launch-continuity&amp;osSection=missions. Browser storage belongs to this browser. Do not assume cross-device synchronization.</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2</a:t>
            </a:fld>
            <a:endParaRPr lang="en-IN"/>
          </a:p>
        </p:txBody>
      </p:sp>
    </p:spTree>
    <p:extLst>
      <p:ext uri="{BB962C8B-B14F-4D97-AF65-F5344CB8AC3E}">
        <p14:creationId xmlns:p14="http://schemas.microsoft.com/office/powerpoint/2010/main" val="1502162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Application guide prepared 9 September 2026. Source files: app/AgentOS.tsx, app/agent-os-model.ts. The application is a browser prototype with calculated simulations. No live company systems, provider model, external solver, enrolled device or production action service is connected. Example allowed folder: C:\Planning\approved-exports. collectorManifest exports read=true, write=false, delete=false, shellExecution=false and no endpoint.</a:t>
            </a:r>
          </a:p>
        </p:txBody>
      </p:sp>
      <p:sp>
        <p:nvSpPr>
          <p:cNvPr id="4" name="Slide Number Placeholder 3"/>
          <p:cNvSpPr>
            <a:spLocks noGrp="1"/>
          </p:cNvSpPr>
          <p:nvPr>
            <p:ph type="sldNum" sz="quarter" idx="5"/>
          </p:nvPr>
        </p:nvSpPr>
        <p:spPr/>
        <p:txBody>
          <a:bodyPr/>
          <a:lstStyle/>
          <a:p>
            <a:fld id="{8D73C665-6086-4ED2-96AF-CADD5D987B9B}" type="slidenum">
              <a:rPr lang="en-IN" smtClean="0"/>
              <a:t>3</a:t>
            </a:fld>
            <a:endParaRPr lang="en-IN"/>
          </a:p>
        </p:txBody>
      </p:sp>
    </p:spTree>
    <p:extLst>
      <p:ext uri="{BB962C8B-B14F-4D97-AF65-F5344CB8AC3E}">
        <p14:creationId xmlns:p14="http://schemas.microsoft.com/office/powerpoint/2010/main" val="2292034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app/agent-os-model.ts. The application is a browser prototype with calculated simulations. No live company systems, provider model, external solver, enrolled device or production action service is connected. Freshness rule in this example: older than 15 minutes or more than one minute in the future quarantines. No physical sensor is connected. Range checks do not validate a medicine storage instruction.</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4</a:t>
            </a:fld>
            <a:endParaRPr lang="en-IN"/>
          </a:p>
        </p:txBody>
      </p:sp>
    </p:spTree>
    <p:extLst>
      <p:ext uri="{BB962C8B-B14F-4D97-AF65-F5344CB8AC3E}">
        <p14:creationId xmlns:p14="http://schemas.microsoft.com/office/powerpoint/2010/main" val="34777151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app/os-case-evidence.ts. The application is a browser prototype with calculated simulations. No live company systems, provider model, external solver, enrolled device or production action service is connected. Public sources describe educational cases. All modeled operating numbers and regime probabilities are separate scenario assumptions.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5</a:t>
            </a:fld>
            <a:endParaRPr lang="en-IN"/>
          </a:p>
        </p:txBody>
      </p:sp>
    </p:spTree>
    <p:extLst>
      <p:ext uri="{BB962C8B-B14F-4D97-AF65-F5344CB8AC3E}">
        <p14:creationId xmlns:p14="http://schemas.microsoft.com/office/powerpoint/2010/main" val="1709147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app/agent-os-model.ts, app/simulation-model.ts. The application is a browser prototype with calculated simulations. No live company systems, provider model, external solver, enrolled device or production action service is connected. The mission uses timed UI phases. There is no connected autonomous model runtime. The computation calls runSimulation at phase 2.</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6</a:t>
            </a:fld>
            <a:endParaRPr lang="en-IN"/>
          </a:p>
        </p:txBody>
      </p:sp>
    </p:spTree>
    <p:extLst>
      <p:ext uri="{BB962C8B-B14F-4D97-AF65-F5344CB8AC3E}">
        <p14:creationId xmlns:p14="http://schemas.microsoft.com/office/powerpoint/2010/main" val="24507190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app/workspace-model.ts, app/SimulationStudio.tsx. The application is a browser prototype with calculated simulations. No live company systems, provider model, external solver, enrolled device or production action service is connected. Catalog method IDs reference the existing supply-chain methodology taxonomy. Preserve business grain and units in future typed handoffs.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7</a:t>
            </a:fld>
            <a:endParaRPr lang="en-IN"/>
          </a:p>
        </p:txBody>
      </p:sp>
    </p:spTree>
    <p:extLst>
      <p:ext uri="{BB962C8B-B14F-4D97-AF65-F5344CB8AC3E}">
        <p14:creationId xmlns:p14="http://schemas.microsoft.com/office/powerpoint/2010/main" val="2622181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app/SimulationStudio.tsx, app/simulation-model.ts. The application is a browser prototype with calculated simulations. No live company systems, provider model, external solver, enrolled device or production action service is connected. Demand uses a symmetric triangular variation assumption. The model tracks weekly dispatches, arrivals, service, closing inventory and in-transit quantities. Unserved demand is lost each week. Model probabilities are elicited assumptions, not statistically fitted company forecasts.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8</a:t>
            </a:fld>
            <a:endParaRPr lang="en-IN"/>
          </a:p>
        </p:txBody>
      </p:sp>
    </p:spTree>
    <p:extLst>
      <p:ext uri="{BB962C8B-B14F-4D97-AF65-F5344CB8AC3E}">
        <p14:creationId xmlns:p14="http://schemas.microsoft.com/office/powerpoint/2010/main" val="17366246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app/simulation-model.ts, app/SimulationStudio.tsx. The application is a browser prototype with calculated simulations. No live company systems, provider model, external solver, enrolled device or production action service is connected. CVaR95 averages the exact worst five percent of sampled losses, weighting the boundary observation when needed. Financial scope is modeled USD unmet-demand margin plus intervention premiums. Baseline and response share exogenous random draws. P05 service is a quantile, not a 95% confidence interval. More replications reduce numerical sampling noise but do not validate assumptions or domain constraints.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9</a:t>
            </a:fld>
            <a:endParaRPr lang="en-IN"/>
          </a:p>
        </p:txBody>
      </p:sp>
    </p:spTree>
    <p:extLst>
      <p:ext uri="{BB962C8B-B14F-4D97-AF65-F5344CB8AC3E}">
        <p14:creationId xmlns:p14="http://schemas.microsoft.com/office/powerpoint/2010/main" val="15379158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app/SimulationStudio.tsx, app/AgentOS.tsx, app/simulation-model.ts. The application is a browser prototype with calculated simulations. No live company systems, provider model, external solver, enrolled device or production action service is connected. Current compactRun exports summary results and the first three paths per policy. Reopening recomputes from the input snapshot instead of trusting stored results. Forked artifacts carry a parent-run reference. Local history remains browser-scoped; export earlier runs for comparison and sharing.</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10</a:t>
            </a:fld>
            <a:endParaRPr lang="en-IN"/>
          </a:p>
        </p:txBody>
      </p:sp>
    </p:spTree>
    <p:extLst>
      <p:ext uri="{BB962C8B-B14F-4D97-AF65-F5344CB8AC3E}">
        <p14:creationId xmlns:p14="http://schemas.microsoft.com/office/powerpoint/2010/main" val="29695557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app/agent-os-model.ts. The application is a browser prototype with calculated simulations. No live company systems, provider model, external solver, enrolled device or production action service is connected. evaluateSkill always returns productionEligible=false. Repeated outcomes for the same run do not count as distinct evidence. The local reference changes from continuity-review@1.0 to continuity-review@1.1-shadow.</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11</a:t>
            </a:fld>
            <a:endParaRPr lang="en-IN"/>
          </a:p>
        </p:txBody>
      </p:sp>
    </p:spTree>
    <p:extLst>
      <p:ext uri="{BB962C8B-B14F-4D97-AF65-F5344CB8AC3E}">
        <p14:creationId xmlns:p14="http://schemas.microsoft.com/office/powerpoint/2010/main" val="16384005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app/AgentOS.tsx, app/simulation-model.ts, app/workspace-model.ts. The application is a browser prototype with calculated simulations. No live company systems, provider model, external solver, enrolled device or production action service is connected. Architecture basis: TANJNX_CAPABILITIES_AND_IMPROVEMENT_REVIEW.md sections 11 and 13. Browser implementation does not establish live Azure, ERP, IoT or model-provider success.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12</a:t>
            </a:fld>
            <a:endParaRPr lang="en-IN"/>
          </a:p>
        </p:txBody>
      </p:sp>
    </p:spTree>
    <p:extLst>
      <p:ext uri="{BB962C8B-B14F-4D97-AF65-F5344CB8AC3E}">
        <p14:creationId xmlns:p14="http://schemas.microsoft.com/office/powerpoint/2010/main" val="16506754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Apple: $500 million MP Materials commitment
https://www.apple.com/newsroom/2025/07/apple-expands-us-supply-chain-with-500-million-usd-commitment/
Published: 2025-07-15; as of 2025-07-15; retrieved 2026-09-09. Dated investment announcement; does not prove currently qualified available capacity.
Apple: 2026 environmental progress update
https://www.apple.com/ie/newsroom/2026/04/apple-accelerates-progress-with-highest-ever-recycled-material-in-its-products/
Published: 2026-04-16; as of 2025-12-31; retrieved 2026-09-09. Reports 2025 material outcomes; shipment and component exceptions remain those in the source.
Scenario scope: One regional launch cohort; not Apple worldwide production. An assumed export-clearance delay interrupts a component route while a second magnet lot lacks accepted origin evidence. A regional launch demand pulse coincides with constrained air capacity. Announced future magnet investment cannot be treated as stock available this week.
Calculated from exact simulationDefaults at build time. Version supply-flow-monte-carlo@1.0.0. Run SIM-87ff3f1a. Paths 512, seed 20260909, expedite false, alternate allocation 100%. Opening available inventory 4800; opening pipeline 20000. Qualification from week 2. Budget modeled USD 700000. Response mean service 87.35684962499226. Net mean loss avoided 3040434.0709338402.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Every shipped configuration requires a complete qualified BOM. Quarantined magnet lots contribute zero usable supply. Airfreight cannot exceed 1,800 devices per week. New capacity is unavailable before qualification release.
Suggested tools: Data: reconcile component lots; Statistics: demand and lead-time regimes; Supplier Graph: common magnet dependencies; Network Optimizer: qualified allocation; Simulation: correlated route and yield stress; Quality Gate: approve exact revision
Interpretation: Compare service on complete devices and the lower-tail result across repeated stress paths. Protected contribution is a modeled opportunity measure; it is not reported Apple revenue or realized savings.
Native app deep link: /?view=os&amp;osProject=apple-launch-continuity&amp;osSection=tools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13</a:t>
            </a:fld>
            <a:endParaRPr lang="en-IN"/>
          </a:p>
        </p:txBody>
      </p:sp>
    </p:spTree>
    <p:extLst>
      <p:ext uri="{BB962C8B-B14F-4D97-AF65-F5344CB8AC3E}">
        <p14:creationId xmlns:p14="http://schemas.microsoft.com/office/powerpoint/2010/main" val="39696935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Coca-Cola: 2025 Form 10-K
https://investors.coca-colacompany.com/filings-reports/all-sec-filings/content/0001628280-26-010047/ko-20251231.htm
Published: 2026-02-20; as of 2025-12-31; retrieved 2026-09-09. Annual system totals; selected bottler demand must come from a separate operational feed.
Coca-Cola: environmental indicators for 2025
https://www.coca-colacompany.com/about-us/environment
Published: not stated; as of 2025-12-31; retrieved 2026-09-09. Publication date not stated on page. Annual group indicators are not a local water permit or reservoir reading.
Scenario scope: Three modeled bottlers serving one regional retail network. Assume a local heatwave increases demand while a water authority reduces withdrawal and a can supplier loses output. Transfer qualified production, change the pack mix where customers allow it, and preserve local water limits. Group replenishment credits do not increase a local withdrawal permit.
Calculated from exact simulationDefaults at build time. Version supply-flow-monte-carlo@1.0.0. Run SIM-fc55ba59. Paths 512, seed 20260909, expedite false, alternate allocation 100%. Opening available inventory 11000; opening pipeline 42000. Qualification from week 1. Budget modeled USD 180000. Response mean service 77.29700669335625. Net mean loss avoided 297439.8047918782.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Apply withdrawal limits at each watershed; no cross-basin offset. Maintain recipe and packaging approval per SKU. Use stock only when remaining shelf life meets the customer gate. Returnable packaging loops must balance containers, wash capacity and collection.
Suggested tools: Demand Sense: heat-sensitive demand; Statistics: demand residuals and change points; Manufacturing Twin: water and changeover capacity; Network Optimizer: bottler/pack allocation; Simulation: drought persistence; Flow Lens: transfer cash and waste
Interpretation: Read service together with water usage, expiry loss and pack substitutions. A plan that improves availability by breaking the water cap is infeasible, irrespective of contribution.
Native app deep link: /?view=os&amp;osProject=cocacola-water-to-shelf&amp;osSection=tools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14</a:t>
            </a:fld>
            <a:endParaRPr lang="en-IN"/>
          </a:p>
        </p:txBody>
      </p:sp>
    </p:spTree>
    <p:extLst>
      <p:ext uri="{BB962C8B-B14F-4D97-AF65-F5344CB8AC3E}">
        <p14:creationId xmlns:p14="http://schemas.microsoft.com/office/powerpoint/2010/main" val="2953720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Kering: 2025 results, Gucci section
https://www.kering.com/en/news/2025-results-sequential-improvement-unlocking-the-next-phase-of-sustainable-and-profitable-growth/
Published: 2026-02-10; as of 2025-12-31; retrieved 2026-09-09. Annual brand demand context; not a 2026 collection forecast.
Kering: 2016–2025 impact report release
https://www.kering.com/en/news/kering-publishes-10-year-impact-report-charting-a-decade-of-action/
Published: 2026-06-04; as of 2025-12-31; retrieved 2026-09-09. Group-level sourcing result; not evidence that an individual Gucci lot has passed traceability checks.
Scenario scope: One modeled collection and artisan network. An assumed origin-document gap quarantines leather while regional collection demand diverges. A high average forecast hides overstock in one market and a launch shortfall in another. The useful response is a smaller eligible mix and staged release, not unrestricted volume recovery.
Calculated from exact simulationDefaults at build time. Version supply-flow-monte-carlo@1.0.0. Run SIM-65269e7f. Paths 512, seed 20260909, expedite false, alternate allocation 100%. Opening available inventory 620; opening pipeline 5400. Qualification from week 3. Budget modeled USD 450000. Response mean service 87.26204950631279. Net mean loss avoided 1577146.0405009554.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No lot can inherit traceability solely from the group average. Maintain artisan skill and finishing-quality requirements. Do not pool region-specific demand or reorder windows blindly. Release quarantine only after evidence approval.
Suggested tools: Supplier Graph: hide and lot genealogy; Data: origin evidence review; Statistics: regional demand uncertainty; Workforce Studio: artisan capacity; Network Optimizer: eligible mix and allocation; Simulation: markdown and rework tails
Interpretation: Compare sell-through, eligible fill rate and end-of-season stock. Higher throughput alone is not a better result when it increases markdown exposure or consumes uncertified lots.
Native app deep link: /?view=os&amp;osProject=gucci-traceable-collection&amp;osSection=tools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15</a:t>
            </a:fld>
            <a:endParaRPr lang="en-IN"/>
          </a:p>
        </p:txBody>
      </p:sp>
    </p:spTree>
    <p:extLst>
      <p:ext uri="{BB962C8B-B14F-4D97-AF65-F5344CB8AC3E}">
        <p14:creationId xmlns:p14="http://schemas.microsoft.com/office/powerpoint/2010/main" val="2912064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Tata Motors: consolidated Q4 FY25 results
https://www.tatamotors.com/press-releases/tata-motors-consolidated-q4-fy25-results/
Published: 2025-05-13; as of 2025-03-31; retrieved 2026-09-09. Historical pre-demerger reporting perimeter; not a statement of today's corporate structure or vehicle allocation.
UNCTAD: shipping disruptions and global trade
https://unctad.org/news/unprecedented-shipping-disruptions-raise-risk-global-trade-unctad-warns
Published: 2024-02-22; as of 2024-02-22; retrieved 2026-09-09. Historical disruption benchmark. The scenario does not assert that these transit declines continue today.
Scenario scope: One modeled mixed-powertrain vehicle schedule; FY25 context. Assume a controller supplier cuts confirmed allocation and an inbound vessel diverts. Shared ECUs do not make vehicle variants interchangeable: harness, software, test and certification eligibility still differ. Preserve service parts while resequencing the executable vehicle mix.
Calculated from exact simulationDefaults at build time. Version supply-flow-monte-carlo@1.0.0. Run SIM-c997891d. Paths 512, seed 20260909, expedite false, alternate allocation 100%. Opening available inventory 950; opening pipeline 9600. Qualification from week 2. Budget modeled USD 1500000. Response mean service 89.96300687260162. Net mean loss avoided 8797462.483205948.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Controller substitutions require software and configuration approval. Reserve service parts before production allocation. Respect powertrain-specific testing slots. Treat the route diversion as an assumption until a carrier confirms it.
Suggested tools: Risk Radar: controller exposure; Supplier Graph: common component dependencies; Statistics: route delay regimes; Manufacturing Twin: variant sequence; Network Optimizer: configuration allocation; Simulation: supplier/route co-disruption
Interpretation: Count released, complete vehicles and service fulfillment separately. The scenario is an educational programme slice, not Tata Motors' current sales forecast or post-demerger operating plan.
Native app deep link: /?view=os&amp;osProject=tata-vehicle-continuity&amp;osSection=tools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16</a:t>
            </a:fld>
            <a:endParaRPr lang="en-IN"/>
          </a:p>
        </p:txBody>
      </p:sp>
    </p:spTree>
    <p:extLst>
      <p:ext uri="{BB962C8B-B14F-4D97-AF65-F5344CB8AC3E}">
        <p14:creationId xmlns:p14="http://schemas.microsoft.com/office/powerpoint/2010/main" val="29156186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Tesla: 2025 production, deliveries and deployments
https://ir.tesla.com/press-release/tesla-fourth-quarter-2025-production-deliveries-deployments
Published: 2026-01-02; as of 2025-12-31; retrieved 2026-09-09. Reported annual deliveries and energy deployments; no pack BOM, site yield or cell allocation disclosed here.
IEA: Global Critical Minerals Outlook 2025, executive summary
https://www.iea.org/reports/global-critical-minerals-outlook-2025/executive-summary
Published: 2025-05-21; as of 2024-12-31; retrieved 2026-09-09. Historical refining concentration context; no inference that a named company buys from a particular supplier.
Scenario scope: One modeled battery programme; cells are chemistry-specific. Assume graphite clearance delays and a lower first-pass cell yield occur together. Recycled feedstock is available only after assay and qualification. A second storage commitment competes for eligible cells, requiring chemistry-aware allocation rather than assuming all battery demand is fungible.
Calculated from exact simulationDefaults at build time. Version supply-flow-monte-carlo@1.0.0. Run SIM-4f5a3705. Paths 512, seed 20260909, expedite false, alternate allocation 100%. Opening available inventory 1700; opening pipeline 16200. Qualification from week 2. Budget modeled USD 3000000. Response mean service 84.65285799009203. Net mean loss avoided 12951876.703946624.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Keep cell chemistry and pack qualification eligibility explicit. Credit recycled output once, only after assay release. Preserve formation dwell and safety test capacity. Do not treat announced mineral capacity as available qualified input.
Suggested tools: Mineral Atlas: graphite concentration; Statistics: yield and recovery distributions; Manufacturing Twin: formation bottleneck; Network Optimizer: chemistry-specific allocation; Simulation: joint yield and lead-time stress; Flow Lens: cash and lost contribution
Interpretation: Read deliverable qualified energy, lost-service tails and recovery cost together. Companywide annual GWh is context; the simulated pack equivalents and margins are not observed Tesla values.
Native app deep link: /?view=os&amp;osProject=tesla-closed-loop-battery&amp;osSection=tools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17</a:t>
            </a:fld>
            <a:endParaRPr lang="en-IN"/>
          </a:p>
        </p:txBody>
      </p:sp>
    </p:spTree>
    <p:extLst>
      <p:ext uri="{BB962C8B-B14F-4D97-AF65-F5344CB8AC3E}">
        <p14:creationId xmlns:p14="http://schemas.microsoft.com/office/powerpoint/2010/main" val="28899579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BYD: Thailand plant inauguration
https://www.byd.com/sc/news-list/BYD-roll-off-of-lts-8-millionth-new-energy-vehicle
Published: 2024-07-04; as of 2024-07-04; retrieved 2026-09-09. Announced annual nameplate capacity, not current throughput or origin eligibility.
European Commission: definitive BEV countervailing duties
https://ec.europa.eu/commission/presscorner/api/files/document/print/en/ip_24_5589/IP_24_5589_EN.pdf
Published: 2024-10-29; as of 2024-10-29; retrieved 2026-09-09. Historical legal-policy snapshot. Refresh tariff classification, origin and any undertakings before an actual decision.
European Commission: BEV price undertaking guidance
https://policy.trade.ec.europa.eu/news/commission-issues-guidance-document-submission-price-undertaking-offers-battery-electric-vehicles-2026-01-12_en
Published: 2026-01-12; as of 2026-01-12; retrieved 2026-09-09. Guidance is not an approved company undertaking or a current applicable duty calculation.
Scenario scope: One modeled regional export and assembly programme. Assume vessel slots tighten while a local assembly line ramps. Compare exporting eligible finished vehicles with localized assembly using explicit origin and homologation evidence. A factory's location alone neither proves customs origin nor grants a tariff exemption.
Calculated from exact simulationDefaults at build time. Version supply-flow-monte-carlo@1.0.0. Run SIM-95e56d1b. Paths 512, seed 20260909, expedite false, alternate allocation 100%. Opening available inventory 1400; opening pipeline 16400. Qualification from week 3. Budget modeled USD 4000000. Response mean service 87.9715113796058. Net mean loss avoided 12203808.775302785.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Refresh current origin and tariff treatment before approval. No blanket tariff avoidance assumption for local assembly. Enforce homologation by model and destination. Cap export plans by vessel slots and port storage.
Suggested tools: Data: origin and policy evidence; Logistics Radar: RoRo capacity; Statistics: ramp learning curve; Network Optimizer: localization allocation; Simulation: port and policy scenarios; Quality Gate: dated policy review
Interpretation: Compare plans only under the same dated policy baseline and currency assumptions. Historical duties are useful stress cases, not a statement of current legal liability or a guaranteed localization benefit.
Native app deep link: /?view=os&amp;osProject=byd-global-localization&amp;osSection=tools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18</a:t>
            </a:fld>
            <a:endParaRPr lang="en-IN"/>
          </a:p>
        </p:txBody>
      </p:sp>
    </p:spTree>
    <p:extLst>
      <p:ext uri="{BB962C8B-B14F-4D97-AF65-F5344CB8AC3E}">
        <p14:creationId xmlns:p14="http://schemas.microsoft.com/office/powerpoint/2010/main" val="3426847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Hershey: cocoa market volatility and sourcing
https://www.thehersheycompany.com/en_us/home/newsroom/blog/cocoa-market-turmoil-how-hershey-is-innovating-through-unprecedented-challenges.html
Published: 2025-04-30; as of 2025-04-30; retrieved 2026-09-09. Historical company commentary; not a current cocoa price feed.
Hershey: progress on cocoa and sourcing priorities
https://www.thehersheycompany.com/en_us/home/sustainability/progress-on-priorities.html
Published: not stated; as of 2024-12-31; retrieved 2026-09-09. Page gives 2024 progress and mass-balance definitions; publication date is not stated.
Hershey: Source, Make, Delight
https://www.thehersheycompany.com/en_us/home/newsroom/blog/source-make-delight-how-hershey-is-building-a-more-resilient-business.html
Published: 2026-06-10; as of 2025-12-31; retrieved 2026-09-09. 2025 strategy and program progress; does not measure the simulated seasonal programme.
Scenario scope: One modeled seasonal SKU/recipe and packaging network. Assume crop-quality issues and origin holds reduce eligible cocoa while retailers retain a fixed seasonal cutoff. Campaign length, allergen cleaning and packaging availability bind production. Mass-balance certification must not be displayed as physical segregation of every ingredient lot.
Calculated from exact simulationDefaults at build time. Version supply-flow-monte-carlo@1.0.0. Run SIM-22051be6. Paths 512, seed 20260909, expedite false, alternate allocation 100%. Opening available inventory 7000; opening pipeline 52000. Qualification from week 2. Budget modeled USD 420000. Response mean service 73.56308110465275. Net mean loss avoided 471539.32557189325.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Maintain recipe and allergen release rules. Preserve the actual traceability model; do not upgrade mass balance into segregation. Reject origin-held lots until evidence clears. Separate on-time seasonal volume from late volume of lower value.
Suggested tools: Mineral/commodity context: ingredient exposure; Data: recipe and origin joins; Statistics: commodity and yield variability; Manufacturing Twin: campaign schedule; Network Optimizer: eligible ingredient/recipe mix; Simulation: cutoff and obsolescence risk
Interpretation: Service counts only orders delivered within their seasonal windows. A low-cost plan with late cartons can destroy value. Cocoa-price and origin-loss inputs are modeled rather than claims about Hershey's actual purchases.
Native app deep link: /?view=os&amp;osProject=hershey-cocoa-season&amp;osSection=tools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19</a:t>
            </a:fld>
            <a:endParaRPr lang="en-IN"/>
          </a:p>
        </p:txBody>
      </p:sp>
    </p:spTree>
    <p:extLst>
      <p:ext uri="{BB962C8B-B14F-4D97-AF65-F5344CB8AC3E}">
        <p14:creationId xmlns:p14="http://schemas.microsoft.com/office/powerpoint/2010/main" val="1347256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TSMC: 2025 annual report
https://investor.tsmc.com/static/annualReports/2025/english/index.html
Published: not stated; as of 2025-12-31; retrieved 2026-09-09. Exact publication date not stated on landing page. Aggregate capacity cannot be exchanged freely across process nodes.
TSMC: January 2025 revenue and earthquake statement
https://pr.tsmc.com/english/news/3204
Published: 2025-02-10; as of 2025-02-10; retrieved 2026-09-09. Historical preliminary loss estimate, not an active outage or present recovery forecast.
Scenario scope: A modeled priority wafer cohort; not a complete re-entrant fab model. Rehearse a new hypothetical earthquake, separate from the closed 2025 event. Safe tools, qualified recipes, water and packaging slots recover at different speeds. Protect complete routes rather than ranking fabs by aggregate wafer nameplate capacity.
Calculated from exact simulationDefaults at build time. Version supply-flow-monte-carlo@1.0.0. Run SIM-c42328d0. Paths 512, seed 20260909, expedite false, alternate allocation 100%. Opening available inventory 290; opening pipeline 7000. Qualification from week 3. Budget modeled USD 2700000. Response mean service 89.4965783400254. Net mean loss avoided 9268293.668972926.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Safety-held tools have zero available capacity. No arbitrary substitution across process nodes or recipes. Match wafer completion to available packaging/test slots. Use a detailed validated fab model before adopting a production dispatch schedule.
Suggested tools: Risk Radar: utility/tool exposure; Supplier Graph: route and package dependencies; Statistics: recovery regimes; Manufacturing Twin: simplified route capacity; Simulation: correlated recovery paths; Network Optimizer: eligible priority allocation
Interpretation: The portal's model demonstrates uncertainty-aware allocation. It does not solve TSMC's full re-entrant dispatch problem or infer actual yields, customer priorities, recipes or fab loading.
Native app deep link: /?view=os&amp;osProject=tsmc-fab-recovery&amp;osSection=tools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20</a:t>
            </a:fld>
            <a:endParaRPr lang="en-IN"/>
          </a:p>
        </p:txBody>
      </p:sp>
    </p:spTree>
    <p:extLst>
      <p:ext uri="{BB962C8B-B14F-4D97-AF65-F5344CB8AC3E}">
        <p14:creationId xmlns:p14="http://schemas.microsoft.com/office/powerpoint/2010/main" val="11023930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Airbus: 793 commercial deliveries in 2025
https://www.airbus.com/en/newsroom/press-releases/2026-01-airbus-reports-793-commercial-aircraft-deliveries-in-2025
Published: 2026-01-12; as of 2025-12-31; retrieved 2026-09-09. Annual delivered aircraft and backlog; not current configuration-level availability.
Airbus: FY2025 results and production constraints
https://www.airbus.com/en/newsroom/press-releases/2026-02-airbus-reports-full-year-fy-2025-results
Published: 2026-02-19; as of 2026-02-19; retrieved 2026-09-09. Dated management statement about engine shortages; ramp targets are forward-looking, not observed output.
Scenario scope: One modeled delivery stream, not the whole Airbus portfolio. Assume engine-set confirmations and a certified-forging route deteriorate while assembly starts continue. This creates parked airframes rather than deliveries. Re-sequence complete configurations, synchronize engines and tests, and expose which commitments remain infeasible.
Calculated from exact simulationDefaults at build time. Version supply-flow-monte-carlo@1.0.0. Run SIM-16bed20d. Paths 512, seed 20260909, expedite false, alternate allocation 100%. Opening available inventory 3; opening pipeline 98. Qualification from week 3. Budget modeled USD 8000000. Response mean service 96.33421773452947. Net mean loss avoided 42447490.54253358.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A delivered unit requires all certified, configuration-matched components. No uncertified forging or engine substitution. Match final assembly, flight-test and acceptance slots. Do not count incomplete airframes as delivered output.
Suggested tools: Supplier Graph: configuration completeness; Risk Radar: certified sole-source parts; Manufacturing Twin: executable assembly sequence; Network Optimizer: kit/test allocation; Simulation: engine and forging delay correlation; Flow Lens: working capital in parked airframes
Interpretation: Evaluate completed deliveries, remaining shortfall and cash tied in WIP. Modeled contribution is not aircraft sale price; an infeasible service target should remain visible rather than being hidden by optimistic supply.
Native app deep link: /?view=os&amp;osProject=airbus-ramp-continuity&amp;osSection=tools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21</a:t>
            </a:fld>
            <a:endParaRPr lang="en-IN"/>
          </a:p>
        </p:txBody>
      </p:sp>
    </p:spTree>
    <p:extLst>
      <p:ext uri="{BB962C8B-B14F-4D97-AF65-F5344CB8AC3E}">
        <p14:creationId xmlns:p14="http://schemas.microsoft.com/office/powerpoint/2010/main" val="39500168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Application guide prepared 9 September 2026. Source files: app/os-case-evidence.ts, app/simulation-model.ts, app/SimulationStudio.tsx. The application is a browser prototype with calculated simulations. No live company systems, provider model, external solver, enrolled device or production action service is connected. 
Primary sources:
Pfizer: Rocky Mount production restart
https://www.pfizer.com/news/articles/pfizers_rocky_mount_facility_restarts_production_amid_first_phase_post_tornado
Published: 2023-09-25; as of 2023-09-25; retrieved 2026-09-09. Historical recovery example. Do not present the 2023 tornado as an ongoing facility outage.
Health Canada: Pfizer facility supply notice, updated
https://www.canada.ca/en/health-canada/services/drugs-health-products/drug-products/drug-shortages/information-consumers/supply-notices/pfizer-facility-tornado-damage.html
Published: 2023-08-03; as of 2024-05-28; retrieved 2026-09-09. Update states production resumed and immediate impacts were remediated; retained as closed historical evidence.
Pfizer: 2025 annual review
https://annualreview.pfizer.com/
Published: not stated; as of 2025-12-31; retrieved 2026-09-09. Annual access-program context; no current patient allocation, drug substitution, or temperature specification supplied.
Scenario scope: One modeled medicine family; no clinical allocation or substitution advice. Use the closed Rocky Mount recovery as a learning example, then rehearse a separate hypothetical API outage and route closure. Fill-finish, quality release and validated transport each constrain supply. A carrier ETA improvement cannot release a quarantined medicine lot.
Calculated from exact simulationDefaults at build time. Version supply-flow-monte-carlo@1.0.0. Run SIM-c247e0fe. Paths 512, seed 20260909, expedite false, alternate allocation 100%. Opening available inventory 23; opening pipeline 255. Qualification from week 2. Budget modeled USD 2400000. Response mean service 78.59710754530145. Net mean loss avoided 11761417.170827921. Computed browser experiment on modeled operational inputs. No live feeds, external solver, commercial optimum, calibrated probabilities, or production execution. Unserved demand is lost each week. Opening pipeline arrives evenly over the baseline lead time. Capacity cut compounds with state-dependent capacity loss. Economics include unmet-demand margin and intervention premiums only, in modeled USD. Flows are aggregate programme equivalents and can be fractional, not integer builds or released lots. Domain-specific safety and eligibility constraints require separate human verification.
Domain review: Only approved sites, routes and product specifications are eligible. Quarantined or unreleased batches contribute zero distributable supply. Temperature disposition requires authorized quality review. Patient priority follows an approved policy; agents do not invent clinical allocation rules.
Suggested tools: Data: batch and approved specification reconciliation; Statistics: release-time and excursion variability; Manufacturing Twin: QA/fill-finish capacity; Logistics Radar: validated lanes; Simulation: outage persistence and expiry; Network Optimizer: policy-constrained allocation
Interpretation: Report released, eligible batches and unmet authorized demand. Economics remain secondary to quality and approved allocation rules. No scenario result is a treatment recommendation or a claim of a current Pfizer shortage.
Native app deep link: /?view=os&amp;osProject=pfizer-medicine-continuity&amp;osSection=tools</a:t>
            </a:r>
            <a:endParaRPr lang="en-IN"/>
          </a:p>
        </p:txBody>
      </p:sp>
      <p:sp>
        <p:nvSpPr>
          <p:cNvPr id="4" name="Slide Number Placeholder 3"/>
          <p:cNvSpPr>
            <a:spLocks noGrp="1"/>
          </p:cNvSpPr>
          <p:nvPr>
            <p:ph type="sldNum" sz="quarter" idx="5"/>
          </p:nvPr>
        </p:nvSpPr>
        <p:spPr/>
        <p:txBody>
          <a:bodyPr/>
          <a:lstStyle/>
          <a:p>
            <a:fld id="{8D73C665-6086-4ED2-96AF-CADD5D987B9B}" type="slidenum">
              <a:rPr lang="en-IN" smtClean="0"/>
              <a:t>22</a:t>
            </a:fld>
            <a:endParaRPr lang="en-IN"/>
          </a:p>
        </p:txBody>
      </p:sp>
    </p:spTree>
    <p:extLst>
      <p:ext uri="{BB962C8B-B14F-4D97-AF65-F5344CB8AC3E}">
        <p14:creationId xmlns:p14="http://schemas.microsoft.com/office/powerpoint/2010/main" val="992312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87BF2-A0C7-DFBC-0FCB-499C543A6BB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D241D4-74B2-DDBB-71B1-84017B409D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8FB90BA-5180-E242-1E02-8DFAADA3FEBA}"/>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902CBBA4-52D6-6A31-3DEC-A141673ABB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EC8849-99AF-B424-1854-A7823F863070}"/>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1149775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380D5-6483-783F-171C-0753531B699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6CB1B7B-809B-E1A9-AFA5-6F8C4F4DE8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CCC7B7-1BB1-0ECA-6E12-30A310DBE236}"/>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4311797C-C5B6-9359-B006-D39249919B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04CAC2-4DCC-9BCB-7C19-0A9C6525D21D}"/>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330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CA365-E104-A978-1B40-2451050BDF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F3488FE-063F-C9DF-D934-4D364BBCAAF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FB6FFE-2099-0586-A803-6CC153942B36}"/>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CAE21470-677E-91AB-AB6E-27499F1E7B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9FC16E-BB6D-2977-1DA4-1788F5BC9F9E}"/>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329260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639B9-CDDF-0DDE-E5C7-AACC9DE61F2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4829E1F-B995-4A15-8827-9E99C03793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3444D3-3E70-9A1F-A818-688E8E013E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060F174-B676-BAA9-D385-2F0C1AEDE7DF}"/>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6" name="Footer Placeholder 5">
            <a:extLst>
              <a:ext uri="{FF2B5EF4-FFF2-40B4-BE49-F238E27FC236}">
                <a16:creationId xmlns:a16="http://schemas.microsoft.com/office/drawing/2014/main" id="{F7CC6E78-1D34-6FB0-BFD6-19798F1C97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E3ABDD-6181-35F6-84E9-512D9DA82223}"/>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2953044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A9D295-9FE9-94E4-2410-4073820EBC3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A7BEB6-32CC-BE3F-DAEA-83428B27205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FB6BE5-F416-912D-0B47-E1426DD19A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BBAC47-C58D-16FC-F430-42E01F51E1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F8A761-14C0-A21B-2951-B7786B6FC1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BAFE09F-5D25-56A8-8AC1-4CA46E213F8A}"/>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8" name="Footer Placeholder 7">
            <a:extLst>
              <a:ext uri="{FF2B5EF4-FFF2-40B4-BE49-F238E27FC236}">
                <a16:creationId xmlns:a16="http://schemas.microsoft.com/office/drawing/2014/main" id="{2F621BE1-CCC0-1701-8EE6-8B5E60C76B8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11733E3-7D11-585D-8A39-DA3B6AAE4299}"/>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3997178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74FCE-8755-9D27-FC50-A6274606936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8DAB68-F367-DF36-E90E-769FD17F3850}"/>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4" name="Footer Placeholder 3">
            <a:extLst>
              <a:ext uri="{FF2B5EF4-FFF2-40B4-BE49-F238E27FC236}">
                <a16:creationId xmlns:a16="http://schemas.microsoft.com/office/drawing/2014/main" id="{AC55EE0B-A3B4-B205-5A46-BAF3440D9A4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39FD612-CD75-A76B-B46A-829ABA0C191E}"/>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873184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9BB300-4485-77A8-496A-E3A03EB68542}"/>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3" name="Footer Placeholder 2">
            <a:extLst>
              <a:ext uri="{FF2B5EF4-FFF2-40B4-BE49-F238E27FC236}">
                <a16:creationId xmlns:a16="http://schemas.microsoft.com/office/drawing/2014/main" id="{3A9DAB5C-4C70-DA54-3A0A-B01BEF891FD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08E3A4-4ACF-6171-9B6C-7F66EA17E2BD}"/>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2838625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490F5-DF11-F9FE-E13F-C60E54B330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D5AE76-4E19-A451-126B-D341CC386C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4AC97F3-47E6-1783-F08D-414AD0712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81FC9F-0428-26A1-F26B-157D4865A05C}"/>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6" name="Footer Placeholder 5">
            <a:extLst>
              <a:ext uri="{FF2B5EF4-FFF2-40B4-BE49-F238E27FC236}">
                <a16:creationId xmlns:a16="http://schemas.microsoft.com/office/drawing/2014/main" id="{A4F130C1-8A7A-0D32-40E3-8A4B16AB3F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9A1DAE-6766-5FFE-779A-70CEE1421C72}"/>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944908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8D40-5C92-C782-DA88-CAFF4E7C41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196E29-6485-D246-29C4-DCE7E6F1B8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2E6DAD6-D81B-9450-95E1-BACCF80815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F78B9F-DF3F-72F9-C93F-E98829E40842}"/>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6" name="Footer Placeholder 5">
            <a:extLst>
              <a:ext uri="{FF2B5EF4-FFF2-40B4-BE49-F238E27FC236}">
                <a16:creationId xmlns:a16="http://schemas.microsoft.com/office/drawing/2014/main" id="{948D2EC5-224D-F3FA-A9CD-86E2EC9602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F83180-8286-3AEB-19E2-61688AA54C11}"/>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2567659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2E11E-CD54-600C-3828-60BC9FE790D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1E8AED0-57CC-D323-F941-A8CCE56043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A513AF-5B02-5F8D-7C30-87D7CDD850CD}"/>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6D36AC38-1892-8275-70F5-3A249A7D1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97DC0D-0EC1-D9A8-DA41-D1F590BE2F60}"/>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2351810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9557A2-9958-E99D-F9D2-0C451F457CD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1662A6E-1ACB-0CD3-766F-62FBC55B9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D0744F-C70F-DD6B-B6E5-B2407A03006C}"/>
              </a:ext>
            </a:extLst>
          </p:cNvPr>
          <p:cNvSpPr>
            <a:spLocks noGrp="1"/>
          </p:cNvSpPr>
          <p:nvPr>
            <p:ph type="dt" sz="half" idx="10"/>
          </p:nvPr>
        </p:nvSpPr>
        <p:spPr/>
        <p:txBody>
          <a:body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6D2659DA-E649-879D-3EBE-080E27F3A4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D45E5C-A73E-A1B5-6827-76C566ED1ABF}"/>
              </a:ext>
            </a:extLst>
          </p:cNvPr>
          <p:cNvSpPr>
            <a:spLocks noGrp="1"/>
          </p:cNvSpPr>
          <p:nvPr>
            <p:ph type="sldNum" sz="quarter" idx="12"/>
          </p:nvPr>
        </p:nvSpPr>
        <p:spPr/>
        <p:txBody>
          <a:bodyPr/>
          <a:lstStyle/>
          <a:p>
            <a:fld id="{FCB09D75-F5D4-4363-8B54-41435E074C55}" type="slidenum">
              <a:rPr lang="en-IN" smtClean="0"/>
              <a:t>‹#›</a:t>
            </a:fld>
            <a:endParaRPr lang="en-IN"/>
          </a:p>
        </p:txBody>
      </p:sp>
    </p:spTree>
    <p:extLst>
      <p:ext uri="{BB962C8B-B14F-4D97-AF65-F5344CB8AC3E}">
        <p14:creationId xmlns:p14="http://schemas.microsoft.com/office/powerpoint/2010/main" val="3846008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A0D76-47A4-0B51-342A-497C4A3367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C7776C-744E-99EB-6A43-1C51E93032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C3B6A0-59F1-B025-F211-647D850CC2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5A13A6-285A-427A-A2D6-E53AC1E57129}" type="datetimeFigureOut">
              <a:rPr lang="en-IN" smtClean="0"/>
              <a:t>09-09-2026</a:t>
            </a:fld>
            <a:endParaRPr lang="en-IN"/>
          </a:p>
        </p:txBody>
      </p:sp>
      <p:sp>
        <p:nvSpPr>
          <p:cNvPr id="5" name="Footer Placeholder 4">
            <a:extLst>
              <a:ext uri="{FF2B5EF4-FFF2-40B4-BE49-F238E27FC236}">
                <a16:creationId xmlns:a16="http://schemas.microsoft.com/office/drawing/2014/main" id="{EA94D570-C141-3FBC-EBD8-1A3768CD7B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2AF83F3-5B5E-1483-B833-7C7A4EC023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B09D75-F5D4-4363-8B54-41435E074C55}" type="slidenum">
              <a:rPr lang="en-IN" smtClean="0"/>
              <a:t>‹#›</a:t>
            </a:fld>
            <a:endParaRPr lang="en-IN"/>
          </a:p>
        </p:txBody>
      </p:sp>
    </p:spTree>
    <p:extLst>
      <p:ext uri="{BB962C8B-B14F-4D97-AF65-F5344CB8AC3E}">
        <p14:creationId xmlns:p14="http://schemas.microsoft.com/office/powerpoint/2010/main" val="40352112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6F5658-B32A-C62C-4792-C401DC2857F2}"/>
              </a:ext>
            </a:extLst>
          </p:cNvPr>
          <p:cNvSpPr txBox="1"/>
          <p:nvPr/>
        </p:nvSpPr>
        <p:spPr>
          <a:xfrm>
            <a:off x="609600" y="1066800"/>
            <a:ext cx="10541000" cy="276999"/>
          </a:xfrm>
          <a:prstGeom prst="rect">
            <a:avLst/>
          </a:prstGeom>
          <a:noFill/>
        </p:spPr>
        <p:txBody>
          <a:bodyPr vert="horz" wrap="square" lIns="0" tIns="0" rIns="0" bIns="0" rtlCol="0">
            <a:noAutofit/>
          </a:bodyPr>
          <a:lstStyle/>
          <a:p>
            <a:r>
              <a:rPr lang="en-IN" sz="9000" b="1">
                <a:solidFill>
                  <a:srgbClr val="D7FF38"/>
                </a:solidFill>
                <a:latin typeface="Arial" panose="020B0604020202020204" pitchFamily="34" charset="0"/>
              </a:rPr>
              <a:t>tanjnx</a:t>
            </a:r>
          </a:p>
        </p:txBody>
      </p:sp>
      <p:sp>
        <p:nvSpPr>
          <p:cNvPr id="3" name="TextBox 2">
            <a:extLst>
              <a:ext uri="{FF2B5EF4-FFF2-40B4-BE49-F238E27FC236}">
                <a16:creationId xmlns:a16="http://schemas.microsoft.com/office/drawing/2014/main" id="{EDE51740-EB86-A020-6341-2E460558FBA1}"/>
              </a:ext>
            </a:extLst>
          </p:cNvPr>
          <p:cNvSpPr txBox="1"/>
          <p:nvPr/>
        </p:nvSpPr>
        <p:spPr>
          <a:xfrm>
            <a:off x="660400" y="3086100"/>
            <a:ext cx="10414000" cy="276999"/>
          </a:xfrm>
          <a:prstGeom prst="rect">
            <a:avLst/>
          </a:prstGeom>
          <a:noFill/>
        </p:spPr>
        <p:txBody>
          <a:bodyPr vert="horz" wrap="square" lIns="0" tIns="0" rIns="0" bIns="0" rtlCol="0">
            <a:noAutofit/>
          </a:bodyPr>
          <a:lstStyle/>
          <a:p>
            <a:r>
              <a:rPr lang="en-IN" sz="4000" b="1">
                <a:solidFill>
                  <a:srgbClr val="F2F6F6"/>
                </a:solidFill>
                <a:latin typeface="Arial" panose="020B0604020202020204" pitchFamily="34" charset="0"/>
              </a:rPr>
              <a:t>Mission control user guide</a:t>
            </a:r>
          </a:p>
        </p:txBody>
      </p:sp>
      <p:sp>
        <p:nvSpPr>
          <p:cNvPr id="4" name="TextBox 3">
            <a:extLst>
              <a:ext uri="{FF2B5EF4-FFF2-40B4-BE49-F238E27FC236}">
                <a16:creationId xmlns:a16="http://schemas.microsoft.com/office/drawing/2014/main" id="{271EC9DC-673D-D865-652A-5E01A6FABF20}"/>
              </a:ext>
            </a:extLst>
          </p:cNvPr>
          <p:cNvSpPr txBox="1"/>
          <p:nvPr/>
        </p:nvSpPr>
        <p:spPr>
          <a:xfrm>
            <a:off x="685800" y="4127500"/>
            <a:ext cx="9525000" cy="276999"/>
          </a:xfrm>
          <a:prstGeom prst="rect">
            <a:avLst/>
          </a:prstGeom>
          <a:noFill/>
        </p:spPr>
        <p:txBody>
          <a:bodyPr vert="horz" wrap="square" lIns="0" tIns="0" rIns="0" bIns="0" rtlCol="0">
            <a:noAutofit/>
          </a:bodyPr>
          <a:lstStyle/>
          <a:p>
            <a:r>
              <a:rPr lang="en-US" sz="2300">
                <a:solidFill>
                  <a:srgbClr val="BEC7C6"/>
                </a:solidFill>
                <a:latin typeface="Arial" panose="020B0604020202020204" pitchFamily="34" charset="0"/>
              </a:rPr>
              <a:t>A working guide to project evidence, simulation and review</a:t>
            </a:r>
            <a:endParaRPr lang="en-IN" sz="2300">
              <a:solidFill>
                <a:srgbClr val="BEC7C6"/>
              </a:solidFill>
              <a:latin typeface="Arial" panose="020B0604020202020204" pitchFamily="34" charset="0"/>
            </a:endParaRPr>
          </a:p>
        </p:txBody>
      </p:sp>
      <p:sp>
        <p:nvSpPr>
          <p:cNvPr id="5" name="TextBox 4">
            <a:extLst>
              <a:ext uri="{FF2B5EF4-FFF2-40B4-BE49-F238E27FC236}">
                <a16:creationId xmlns:a16="http://schemas.microsoft.com/office/drawing/2014/main" id="{AB48C616-8138-8C09-C64D-2847895EDFE3}"/>
              </a:ext>
            </a:extLst>
          </p:cNvPr>
          <p:cNvSpPr txBox="1"/>
          <p:nvPr/>
        </p:nvSpPr>
        <p:spPr>
          <a:xfrm>
            <a:off x="685800" y="5880100"/>
            <a:ext cx="9525000" cy="276999"/>
          </a:xfrm>
          <a:prstGeom prst="rect">
            <a:avLst/>
          </a:prstGeom>
          <a:noFill/>
        </p:spPr>
        <p:txBody>
          <a:bodyPr vert="horz" wrap="square" lIns="0" tIns="0" rIns="0" bIns="0" rtlCol="0">
            <a:noAutofit/>
          </a:bodyPr>
          <a:lstStyle/>
          <a:p>
            <a:r>
              <a:rPr lang="en-IN" sz="1500">
                <a:solidFill>
                  <a:srgbClr val="BEC7C6"/>
                </a:solidFill>
                <a:latin typeface="Arial" panose="020B0604020202020204" pitchFamily="34" charset="0"/>
              </a:rPr>
              <a:t>September 2026</a:t>
            </a:r>
          </a:p>
        </p:txBody>
      </p:sp>
    </p:spTree>
    <p:extLst>
      <p:ext uri="{BB962C8B-B14F-4D97-AF65-F5344CB8AC3E}">
        <p14:creationId xmlns:p14="http://schemas.microsoft.com/office/powerpoint/2010/main" val="15925516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4FD9AC-BC6C-6A81-0106-9C127B619DF0}"/>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Mission control</a:t>
            </a:r>
          </a:p>
        </p:txBody>
      </p:sp>
      <p:sp>
        <p:nvSpPr>
          <p:cNvPr id="3" name="TextBox 2">
            <a:extLst>
              <a:ext uri="{FF2B5EF4-FFF2-40B4-BE49-F238E27FC236}">
                <a16:creationId xmlns:a16="http://schemas.microsoft.com/office/drawing/2014/main" id="{8C9879AC-17C8-6148-EA3E-92870F00D477}"/>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The project selector keeps every activity inside one company case</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9FD8458A-75FE-36CB-73A0-0B5DF1ABA898}"/>
              </a:ext>
            </a:extLst>
          </p:cNvPr>
          <p:cNvSpPr txBox="1"/>
          <p:nvPr/>
        </p:nvSpPr>
        <p:spPr>
          <a:xfrm>
            <a:off x="609600" y="2082800"/>
            <a:ext cx="4191000" cy="276999"/>
          </a:xfrm>
          <a:prstGeom prst="rect">
            <a:avLst/>
          </a:prstGeom>
          <a:noFill/>
        </p:spPr>
        <p:txBody>
          <a:bodyPr vert="horz" wrap="square" lIns="0" tIns="0" rIns="0" bIns="0" rtlCol="0">
            <a:noAutofit/>
          </a:bodyPr>
          <a:lstStyle/>
          <a:p>
            <a:r>
              <a:rPr lang="en-IN" b="1">
                <a:solidFill>
                  <a:srgbClr val="D7FF38"/>
                </a:solidFill>
                <a:latin typeface="Arial" panose="020B0604020202020204" pitchFamily="34" charset="0"/>
              </a:rPr>
              <a:t>Getting there</a:t>
            </a:r>
          </a:p>
        </p:txBody>
      </p:sp>
      <p:sp>
        <p:nvSpPr>
          <p:cNvPr id="5" name="TextBox 4">
            <a:extLst>
              <a:ext uri="{FF2B5EF4-FFF2-40B4-BE49-F238E27FC236}">
                <a16:creationId xmlns:a16="http://schemas.microsoft.com/office/drawing/2014/main" id="{60C1C5D4-5FE6-8890-8C1F-0CDC4A964D11}"/>
              </a:ext>
            </a:extLst>
          </p:cNvPr>
          <p:cNvSpPr txBox="1"/>
          <p:nvPr/>
        </p:nvSpPr>
        <p:spPr>
          <a:xfrm>
            <a:off x="609600" y="2540000"/>
            <a:ext cx="4191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Choose Mission control in the main rail. Select a client and project at the top. Open terminal leads to the project Playground.</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7536B2FB-2DC7-5F9B-37F6-3A706ECD7C7D}"/>
              </a:ext>
            </a:extLst>
          </p:cNvPr>
          <p:cNvSpPr txBox="1"/>
          <p:nvPr/>
        </p:nvSpPr>
        <p:spPr>
          <a:xfrm>
            <a:off x="609600" y="4191000"/>
            <a:ext cx="4191000" cy="276999"/>
          </a:xfrm>
          <a:prstGeom prst="rect">
            <a:avLst/>
          </a:prstGeom>
          <a:noFill/>
        </p:spPr>
        <p:txBody>
          <a:bodyPr vert="horz" wrap="square" lIns="0" tIns="0" rIns="0" bIns="0" rtlCol="0">
            <a:noAutofit/>
          </a:bodyPr>
          <a:lstStyle/>
          <a:p>
            <a:r>
              <a:rPr lang="en-IN" b="1">
                <a:solidFill>
                  <a:srgbClr val="D7FF38"/>
                </a:solidFill>
                <a:latin typeface="Arial" panose="020B0604020202020204" pitchFamily="34" charset="0"/>
              </a:rPr>
              <a:t>Your first session</a:t>
            </a:r>
          </a:p>
        </p:txBody>
      </p:sp>
      <p:sp>
        <p:nvSpPr>
          <p:cNvPr id="7" name="TextBox 6">
            <a:extLst>
              <a:ext uri="{FF2B5EF4-FFF2-40B4-BE49-F238E27FC236}">
                <a16:creationId xmlns:a16="http://schemas.microsoft.com/office/drawing/2014/main" id="{DC3E98E2-59A0-9F5A-A9AD-447DE47EE070}"/>
              </a:ext>
            </a:extLst>
          </p:cNvPr>
          <p:cNvSpPr txBox="1"/>
          <p:nvPr/>
        </p:nvSpPr>
        <p:spPr>
          <a:xfrm>
            <a:off x="609600" y="4648200"/>
            <a:ext cx="4191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Read Intelligence, prepare a Connection profile if needed, then open Missions and run the example. Use Tools for a detailed rerun.</a:t>
            </a:r>
            <a:endParaRPr lang="en-IN" sz="1900">
              <a:solidFill>
                <a:srgbClr val="F2F6F6"/>
              </a:solidFill>
              <a:latin typeface="Arial" panose="020B0604020202020204" pitchFamily="34" charset="0"/>
            </a:endParaRPr>
          </a:p>
        </p:txBody>
      </p:sp>
      <p:graphicFrame>
        <p:nvGraphicFramePr>
          <p:cNvPr id="8" name="Table 7">
            <a:extLst>
              <a:ext uri="{FF2B5EF4-FFF2-40B4-BE49-F238E27FC236}">
                <a16:creationId xmlns:a16="http://schemas.microsoft.com/office/drawing/2014/main" id="{291534E8-6E09-955B-EEB9-D97970529957}"/>
              </a:ext>
            </a:extLst>
          </p:cNvPr>
          <p:cNvGraphicFramePr>
            <a:graphicFrameLocks noGrp="1"/>
          </p:cNvGraphicFramePr>
          <p:nvPr>
            <p:extLst>
              <p:ext uri="{D42A27DB-BD31-4B8C-83A1-F6EECF244321}">
                <p14:modId xmlns:p14="http://schemas.microsoft.com/office/powerpoint/2010/main" val="2096814939"/>
              </p:ext>
            </p:extLst>
          </p:nvPr>
        </p:nvGraphicFramePr>
        <p:xfrm>
          <a:off x="5334000" y="2133600"/>
          <a:ext cx="6248400" cy="3975100"/>
        </p:xfrm>
        <a:graphic>
          <a:graphicData uri="http://schemas.openxmlformats.org/drawingml/2006/table">
            <a:tbl>
              <a:tblPr firstRow="1" bandRow="1">
                <a:tableStyleId>{5C22544A-7EE6-4342-B048-85BDC9FD1C3A}</a:tableStyleId>
              </a:tblPr>
              <a:tblGrid>
                <a:gridCol w="1687068">
                  <a:extLst>
                    <a:ext uri="{9D8B030D-6E8A-4147-A177-3AD203B41FA5}">
                      <a16:colId xmlns:a16="http://schemas.microsoft.com/office/drawing/2014/main" val="961135549"/>
                    </a:ext>
                  </a:extLst>
                </a:gridCol>
                <a:gridCol w="4561332">
                  <a:extLst>
                    <a:ext uri="{9D8B030D-6E8A-4147-A177-3AD203B41FA5}">
                      <a16:colId xmlns:a16="http://schemas.microsoft.com/office/drawing/2014/main" val="3839670450"/>
                    </a:ext>
                  </a:extLst>
                </a:gridCol>
              </a:tblGrid>
              <a:tr h="662517">
                <a:tc>
                  <a:txBody>
                    <a:bodyPr/>
                    <a:lstStyle/>
                    <a:p>
                      <a:pPr>
                        <a:spcAft>
                          <a:spcPts val="0"/>
                        </a:spcAft>
                      </a:pPr>
                      <a:r>
                        <a:rPr lang="en-IN" sz="1700" b="1">
                          <a:solidFill>
                            <a:srgbClr val="D7FF38"/>
                          </a:solidFill>
                          <a:latin typeface="Arial" panose="020B0604020202020204" pitchFamily="34" charset="0"/>
                        </a:rPr>
                        <a:t>Section</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700" b="1">
                          <a:solidFill>
                            <a:srgbClr val="D7FF38"/>
                          </a:solidFill>
                          <a:latin typeface="Arial" panose="020B0604020202020204" pitchFamily="34" charset="0"/>
                        </a:rPr>
                        <a:t>What you do</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1008479644"/>
                  </a:ext>
                </a:extLst>
              </a:tr>
              <a:tr h="662517">
                <a:tc>
                  <a:txBody>
                    <a:bodyPr/>
                    <a:lstStyle/>
                    <a:p>
                      <a:pPr>
                        <a:spcAft>
                          <a:spcPts val="0"/>
                        </a:spcAft>
                      </a:pPr>
                      <a:r>
                        <a:rPr lang="en-IN" sz="1700" b="0">
                          <a:solidFill>
                            <a:srgbClr val="F2F6F6"/>
                          </a:solidFill>
                          <a:latin typeface="Arial" panose="020B0604020202020204" pitchFamily="34" charset="0"/>
                        </a:rPr>
                        <a:t>Missions</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700" b="0">
                          <a:solidFill>
                            <a:srgbClr val="F2F6F6"/>
                          </a:solidFill>
                          <a:latin typeface="Arial" panose="020B0604020202020204" pitchFamily="34" charset="0"/>
                        </a:rPr>
                        <a:t>Replay the calculation and inspect its trace</a:t>
                      </a:r>
                      <a:endParaRPr lang="en-IN" sz="17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706054673"/>
                  </a:ext>
                </a:extLst>
              </a:tr>
              <a:tr h="662517">
                <a:tc>
                  <a:txBody>
                    <a:bodyPr/>
                    <a:lstStyle/>
                    <a:p>
                      <a:pPr>
                        <a:spcAft>
                          <a:spcPts val="0"/>
                        </a:spcAft>
                      </a:pPr>
                      <a:r>
                        <a:rPr lang="en-IN" sz="1700" b="0">
                          <a:solidFill>
                            <a:srgbClr val="F2F6F6"/>
                          </a:solidFill>
                          <a:latin typeface="Arial" panose="020B0604020202020204" pitchFamily="34" charset="0"/>
                        </a:rPr>
                        <a:t>Connections</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700" b="0">
                          <a:solidFill>
                            <a:srgbClr val="F2F6F6"/>
                          </a:solidFill>
                          <a:latin typeface="Arial" panose="020B0604020202020204" pitchFamily="34" charset="0"/>
                        </a:rPr>
                        <a:t>Scope sources and test IoT samples</a:t>
                      </a:r>
                      <a:endParaRPr lang="en-IN" sz="17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000682953"/>
                  </a:ext>
                </a:extLst>
              </a:tr>
              <a:tr h="662517">
                <a:tc>
                  <a:txBody>
                    <a:bodyPr/>
                    <a:lstStyle/>
                    <a:p>
                      <a:pPr>
                        <a:spcAft>
                          <a:spcPts val="0"/>
                        </a:spcAft>
                      </a:pPr>
                      <a:r>
                        <a:rPr lang="en-IN" sz="1700" b="0">
                          <a:solidFill>
                            <a:srgbClr val="F2F6F6"/>
                          </a:solidFill>
                          <a:latin typeface="Arial" panose="020B0604020202020204" pitchFamily="34" charset="0"/>
                        </a:rPr>
                        <a:t>Intelligence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700" b="0">
                          <a:solidFill>
                            <a:srgbClr val="F2F6F6"/>
                          </a:solidFill>
                          <a:latin typeface="Arial" panose="020B0604020202020204" pitchFamily="34" charset="0"/>
                        </a:rPr>
                        <a:t>Read facts and operating assumptions</a:t>
                      </a:r>
                      <a:endParaRPr lang="en-IN" sz="17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796583882"/>
                  </a:ext>
                </a:extLst>
              </a:tr>
              <a:tr h="662517">
                <a:tc>
                  <a:txBody>
                    <a:bodyPr/>
                    <a:lstStyle/>
                    <a:p>
                      <a:pPr>
                        <a:spcAft>
                          <a:spcPts val="0"/>
                        </a:spcAft>
                      </a:pPr>
                      <a:r>
                        <a:rPr lang="en-IN" sz="1700" b="0">
                          <a:solidFill>
                            <a:srgbClr val="F2F6F6"/>
                          </a:solidFill>
                          <a:latin typeface="Arial" panose="020B0604020202020204" pitchFamily="34" charset="0"/>
                        </a:rPr>
                        <a:t>Tools</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700" b="0">
                          <a:solidFill>
                            <a:srgbClr val="F2F6F6"/>
                          </a:solidFill>
                          <a:latin typeface="Arial" panose="020B0604020202020204" pitchFamily="34" charset="0"/>
                        </a:rPr>
                        <a:t>Open project apps and Simulation</a:t>
                      </a:r>
                      <a:endParaRPr lang="en-IN" sz="17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194297339"/>
                  </a:ext>
                </a:extLst>
              </a:tr>
              <a:tr h="662517">
                <a:tc>
                  <a:txBody>
                    <a:bodyPr/>
                    <a:lstStyle/>
                    <a:p>
                      <a:pPr>
                        <a:spcAft>
                          <a:spcPts val="0"/>
                        </a:spcAft>
                      </a:pPr>
                      <a:r>
                        <a:rPr lang="en-IN" sz="1700" b="0">
                          <a:solidFill>
                            <a:srgbClr val="F2F6F6"/>
                          </a:solidFill>
                          <a:latin typeface="Arial" panose="020B0604020202020204" pitchFamily="34" charset="0"/>
                        </a:rPr>
                        <a:t>Learning</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700" b="0">
                          <a:solidFill>
                            <a:srgbClr val="F2F6F6"/>
                          </a:solidFill>
                          <a:latin typeface="Arial" panose="020B0604020202020204" pitchFamily="34" charset="0"/>
                        </a:rPr>
                        <a:t>Record outcomes and review skills</a:t>
                      </a:r>
                      <a:endParaRPr lang="en-IN" sz="17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932440278"/>
                  </a:ext>
                </a:extLst>
              </a:tr>
            </a:tbl>
          </a:graphicData>
        </a:graphic>
      </p:graphicFrame>
      <p:sp>
        <p:nvSpPr>
          <p:cNvPr id="9" name="TextBox 8">
            <a:extLst>
              <a:ext uri="{FF2B5EF4-FFF2-40B4-BE49-F238E27FC236}">
                <a16:creationId xmlns:a16="http://schemas.microsoft.com/office/drawing/2014/main" id="{9C3FD5C5-9208-AD71-B792-137FCF81A822}"/>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02</a:t>
            </a:r>
          </a:p>
        </p:txBody>
      </p:sp>
    </p:spTree>
    <p:extLst>
      <p:ext uri="{BB962C8B-B14F-4D97-AF65-F5344CB8AC3E}">
        <p14:creationId xmlns:p14="http://schemas.microsoft.com/office/powerpoint/2010/main" val="992523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35132A-4A41-1CDD-DDF5-08E8CCFF4BF6}"/>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Connection permissions</a:t>
            </a:r>
          </a:p>
        </p:txBody>
      </p:sp>
      <p:sp>
        <p:nvSpPr>
          <p:cNvPr id="3" name="TextBox 2">
            <a:extLst>
              <a:ext uri="{FF2B5EF4-FFF2-40B4-BE49-F238E27FC236}">
                <a16:creationId xmlns:a16="http://schemas.microsoft.com/office/drawing/2014/main" id="{0BA75DB6-7B9E-1F87-7683-8825943411C9}"/>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A connection profile records the scope you intend to authorize</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AB1EAE25-B042-B821-D2E6-4E8A66895E9B}"/>
              </a:ext>
            </a:extLst>
          </p:cNvPr>
          <p:cNvSpPr txBox="1"/>
          <p:nvPr/>
        </p:nvSpPr>
        <p:spPr>
          <a:xfrm>
            <a:off x="609600" y="2159000"/>
            <a:ext cx="5143500" cy="276999"/>
          </a:xfrm>
          <a:prstGeom prst="rect">
            <a:avLst/>
          </a:prstGeom>
          <a:noFill/>
        </p:spPr>
        <p:txBody>
          <a:bodyPr vert="horz" wrap="square" lIns="0" tIns="0" rIns="0" bIns="0" rtlCol="0">
            <a:noAutofit/>
          </a:bodyPr>
          <a:lstStyle/>
          <a:p>
            <a:r>
              <a:rPr lang="en-US" sz="2100" b="1">
                <a:solidFill>
                  <a:srgbClr val="D7FF38"/>
                </a:solidFill>
                <a:latin typeface="Arial" panose="020B0604020202020204" pitchFamily="34" charset="0"/>
              </a:rPr>
              <a:t>1  Name the approved source</a:t>
            </a:r>
            <a:endParaRPr lang="en-IN" sz="21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3A671EAD-C93C-9B7B-2DA9-B5CD292A947B}"/>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In Connections, choose Desktop agent, Enterprise API or IoT device. Enter a profile name and exact folders, tables or topics.</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5E0B8C44-0B3C-5389-B045-3BCB19101879}"/>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2  Acknowledge source approval</a:t>
            </a:r>
          </a:p>
        </p:txBody>
      </p:sp>
      <p:sp>
        <p:nvSpPr>
          <p:cNvPr id="7" name="TextBox 6">
            <a:extLst>
              <a:ext uri="{FF2B5EF4-FFF2-40B4-BE49-F238E27FC236}">
                <a16:creationId xmlns:a16="http://schemas.microsoft.com/office/drawing/2014/main" id="{0B129A5E-A0E4-7413-4BE9-2BB4DB85F41E}"/>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Select the approval checkbox, then Save connection profile. Whole drives and wildcard scopes fail validation.</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7C2C27F0-3B0D-CA77-765D-D886FDE76219}"/>
              </a:ext>
            </a:extLst>
          </p:cNvPr>
          <p:cNvSpPr txBox="1"/>
          <p:nvPr/>
        </p:nvSpPr>
        <p:spPr>
          <a:xfrm>
            <a:off x="609600" y="4191000"/>
            <a:ext cx="5143500" cy="276999"/>
          </a:xfrm>
          <a:prstGeom prst="rect">
            <a:avLst/>
          </a:prstGeom>
          <a:noFill/>
        </p:spPr>
        <p:txBody>
          <a:bodyPr vert="horz" wrap="square" lIns="0" tIns="0" rIns="0" bIns="0" rtlCol="0">
            <a:noAutofit/>
          </a:bodyPr>
          <a:lstStyle/>
          <a:p>
            <a:r>
              <a:rPr lang="en-US" sz="2100" b="1">
                <a:solidFill>
                  <a:srgbClr val="D7FF38"/>
                </a:solidFill>
                <a:latin typeface="Arial" panose="020B0604020202020204" pitchFamily="34" charset="0"/>
              </a:rPr>
              <a:t>3  Review the exported policy</a:t>
            </a:r>
            <a:endParaRPr lang="en-IN" sz="2100" b="1">
              <a:solidFill>
                <a:srgbClr val="D7FF38"/>
              </a:solidFill>
              <a:latin typeface="Arial" panose="020B0604020202020204" pitchFamily="34" charset="0"/>
            </a:endParaRPr>
          </a:p>
        </p:txBody>
      </p:sp>
      <p:sp>
        <p:nvSpPr>
          <p:cNvPr id="9" name="TextBox 8">
            <a:extLst>
              <a:ext uri="{FF2B5EF4-FFF2-40B4-BE49-F238E27FC236}">
                <a16:creationId xmlns:a16="http://schemas.microsoft.com/office/drawing/2014/main" id="{BE55DFD1-9FE1-ED39-A8CF-9E5EFEEBAFA9}"/>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Export policy creates a JSON draft with read access, redaction and retention settings. No installer, enrollment token or credentials are included.</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08838F7A-2906-230E-2196-F38C1E632144}"/>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Production boundary</a:t>
            </a:r>
          </a:p>
        </p:txBody>
      </p:sp>
      <p:sp>
        <p:nvSpPr>
          <p:cNvPr id="11" name="TextBox 10">
            <a:extLst>
              <a:ext uri="{FF2B5EF4-FFF2-40B4-BE49-F238E27FC236}">
                <a16:creationId xmlns:a16="http://schemas.microsoft.com/office/drawing/2014/main" id="{75B340D3-E33A-9EED-E450-3A76F66B6478}"/>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The local companion and local chat need an enrollment service, signed installer, verified identity and approved model/tool adapters.</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C2A15D9C-58AB-5FD6-6D12-7FE6EA4CB852}"/>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Saving a profile changes local browser state. It does not install a collector or contact a source.</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87CD0E5F-7551-72C7-1E00-2FC213591AD3}"/>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03</a:t>
            </a:r>
          </a:p>
        </p:txBody>
      </p:sp>
    </p:spTree>
    <p:extLst>
      <p:ext uri="{BB962C8B-B14F-4D97-AF65-F5344CB8AC3E}">
        <p14:creationId xmlns:p14="http://schemas.microsoft.com/office/powerpoint/2010/main" val="336822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F22293-A130-B516-6AC9-E16478B0F8D9}"/>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IoT sample validation</a:t>
            </a:r>
          </a:p>
        </p:txBody>
      </p:sp>
      <p:sp>
        <p:nvSpPr>
          <p:cNvPr id="3" name="TextBox 2">
            <a:extLst>
              <a:ext uri="{FF2B5EF4-FFF2-40B4-BE49-F238E27FC236}">
                <a16:creationId xmlns:a16="http://schemas.microsoft.com/office/drawing/2014/main" id="{14BE0972-C03D-5C6B-D3D6-C8CC55C5CA26}"/>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IN" sz="2000">
                <a:solidFill>
                  <a:srgbClr val="BEC7C6"/>
                </a:solidFill>
                <a:latin typeface="Arial" panose="020B0604020202020204" pitchFamily="34" charset="0"/>
              </a:rPr>
              <a:t>The temperature example exercises data-quality gates</a:t>
            </a:r>
          </a:p>
        </p:txBody>
      </p:sp>
      <p:sp>
        <p:nvSpPr>
          <p:cNvPr id="4" name="TextBox 3">
            <a:extLst>
              <a:ext uri="{FF2B5EF4-FFF2-40B4-BE49-F238E27FC236}">
                <a16:creationId xmlns:a16="http://schemas.microsoft.com/office/drawing/2014/main" id="{21EBD5E1-BE33-4486-B83F-6E95A9AB91D7}"/>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Prepare the sample</a:t>
            </a:r>
          </a:p>
        </p:txBody>
      </p:sp>
      <p:sp>
        <p:nvSpPr>
          <p:cNvPr id="5" name="TextBox 4">
            <a:extLst>
              <a:ext uri="{FF2B5EF4-FFF2-40B4-BE49-F238E27FC236}">
                <a16:creationId xmlns:a16="http://schemas.microsoft.com/office/drawing/2014/main" id="{F46A12D5-E9DC-0D31-46DC-5A6136EC08E0}"/>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Choose IoT device, provide its identifier and topic, and save the approved profile. Enable Sample enabled and select Prepare editable sample.</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AD0734A5-2908-622A-0A8C-9BA59913009E}"/>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Test the event</a:t>
            </a:r>
          </a:p>
        </p:txBody>
      </p:sp>
      <p:sp>
        <p:nvSpPr>
          <p:cNvPr id="7" name="TextBox 6">
            <a:extLst>
              <a:ext uri="{FF2B5EF4-FFF2-40B4-BE49-F238E27FC236}">
                <a16:creationId xmlns:a16="http://schemas.microsoft.com/office/drawing/2014/main" id="{205155CB-B739-F1DC-81D1-BFA7111C4096}"/>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Keep deviceId aligned with the profile. Use a unique event id and increasing sequence, an observedAt timestamp, a numeric value and unit °C.</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787E9B98-58BD-BF7A-E850-12D43A295116}"/>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Inspect the disposition</a:t>
            </a:r>
          </a:p>
        </p:txBody>
      </p:sp>
      <p:sp>
        <p:nvSpPr>
          <p:cNvPr id="9" name="TextBox 8">
            <a:extLst>
              <a:ext uri="{FF2B5EF4-FFF2-40B4-BE49-F238E27FC236}">
                <a16:creationId xmlns:a16="http://schemas.microsoft.com/office/drawing/2014/main" id="{DBDC0536-6364-5A10-45BA-AB59F76178D3}"/>
              </a:ext>
            </a:extLst>
          </p:cNvPr>
          <p:cNvSpPr txBox="1"/>
          <p:nvPr/>
        </p:nvSpPr>
        <p:spPr>
          <a:xfrm>
            <a:off x="609600" y="4686300"/>
            <a:ext cx="5143500" cy="276999"/>
          </a:xfrm>
          <a:prstGeom prst="rect">
            <a:avLst/>
          </a:prstGeom>
          <a:noFill/>
        </p:spPr>
        <p:txBody>
          <a:bodyPr vert="horz" wrap="square" lIns="0" tIns="0" rIns="0" bIns="0" rtlCol="0">
            <a:noAutofit/>
          </a:bodyPr>
          <a:lstStyle/>
          <a:p>
            <a:r>
              <a:rPr lang="en-IN" sz="1900">
                <a:solidFill>
                  <a:srgbClr val="F2F6F6"/>
                </a:solidFill>
                <a:latin typeface="Arial" panose="020B0604020202020204" pitchFamily="34" charset="0"/>
              </a:rPr>
              <a:t>Validate sample event accepts a fresh in-range value. A stale event, future timestamp, older sequence or temperature excursion enters quarantine.</a:t>
            </a:r>
          </a:p>
        </p:txBody>
      </p:sp>
      <p:sp>
        <p:nvSpPr>
          <p:cNvPr id="10" name="TextBox 9">
            <a:extLst>
              <a:ext uri="{FF2B5EF4-FFF2-40B4-BE49-F238E27FC236}">
                <a16:creationId xmlns:a16="http://schemas.microsoft.com/office/drawing/2014/main" id="{CF901536-7D4B-58C9-40C0-23DACB0CC4BD}"/>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Try one failure</a:t>
            </a:r>
          </a:p>
        </p:txBody>
      </p:sp>
      <p:sp>
        <p:nvSpPr>
          <p:cNvPr id="11" name="TextBox 10">
            <a:extLst>
              <a:ext uri="{FF2B5EF4-FFF2-40B4-BE49-F238E27FC236}">
                <a16:creationId xmlns:a16="http://schemas.microsoft.com/office/drawing/2014/main" id="{3044BF66-0858-259A-43F7-A1C33699F170}"/>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Change 5.1°C to 9.0°C with a new id and sequence. Inspect the quarantine reason. Duplicate ids or sequences reject the sample.</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F78BA673-141C-14F4-A8D4-B7718F999ECE}"/>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The 2–8°C range is an interface example. Approved product specifications must define actual handling.</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341EFF7B-9AED-30A0-87FE-7259750CB938}"/>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04</a:t>
            </a:r>
          </a:p>
        </p:txBody>
      </p:sp>
    </p:spTree>
    <p:extLst>
      <p:ext uri="{BB962C8B-B14F-4D97-AF65-F5344CB8AC3E}">
        <p14:creationId xmlns:p14="http://schemas.microsoft.com/office/powerpoint/2010/main" val="1133794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205603-ED41-F03B-0DC2-8447D163ED03}"/>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Intelligence and evidence</a:t>
            </a:r>
          </a:p>
        </p:txBody>
      </p:sp>
      <p:sp>
        <p:nvSpPr>
          <p:cNvPr id="3" name="TextBox 2">
            <a:extLst>
              <a:ext uri="{FF2B5EF4-FFF2-40B4-BE49-F238E27FC236}">
                <a16:creationId xmlns:a16="http://schemas.microsoft.com/office/drawing/2014/main" id="{5EB0B054-B3DE-D05E-26B2-3DFC608D8AA1}"/>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Public facts, private data and scenario assumptions carry different meanings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B5B3FC8C-4712-648D-3DAC-359B13DEF413}"/>
              </a:ext>
            </a:extLst>
          </p:cNvPr>
          <p:cNvSpPr txBox="1"/>
          <p:nvPr/>
        </p:nvSpPr>
        <p:spPr>
          <a:xfrm>
            <a:off x="609600" y="2159000"/>
            <a:ext cx="5143500" cy="276999"/>
          </a:xfrm>
          <a:prstGeom prst="rect">
            <a:avLst/>
          </a:prstGeom>
          <a:noFill/>
        </p:spPr>
        <p:txBody>
          <a:bodyPr vert="horz" wrap="square" lIns="0" tIns="0" rIns="0" bIns="0" rtlCol="0">
            <a:noAutofit/>
          </a:bodyPr>
          <a:lstStyle/>
          <a:p>
            <a:r>
              <a:rPr lang="en-US" sz="2100" b="1">
                <a:solidFill>
                  <a:srgbClr val="D7FF38"/>
                </a:solidFill>
                <a:latin typeface="Arial" panose="020B0604020202020204" pitchFamily="34" charset="0"/>
              </a:rPr>
              <a:t>Read the date with the fact</a:t>
            </a:r>
            <a:endParaRPr lang="en-IN" sz="21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365F0EB6-64CE-5AA9-A691-86A8D6DFEB6C}"/>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Search public sources and open the primary publisher link. Check the reporting period and freshness note before using the fact.</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4ABB05DB-C9F0-7A8A-24E7-2213E85ACF58}"/>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Read the case scope</a:t>
            </a:r>
          </a:p>
        </p:txBody>
      </p:sp>
      <p:sp>
        <p:nvSpPr>
          <p:cNvPr id="7" name="TextBox 6">
            <a:extLst>
              <a:ext uri="{FF2B5EF4-FFF2-40B4-BE49-F238E27FC236}">
                <a16:creationId xmlns:a16="http://schemas.microsoft.com/office/drawing/2014/main" id="{B9F3FA3F-C514-5339-9D54-0FCDE8C904F2}"/>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Companywide annual figures explain context. The scenario models a selected product or network slice with separate demand, capacity and financial assumptions.</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624F2944-AF61-A5BE-2EFD-4E8D92B98E92}"/>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Follow the relevant graph</a:t>
            </a:r>
          </a:p>
        </p:txBody>
      </p:sp>
      <p:sp>
        <p:nvSpPr>
          <p:cNvPr id="9" name="TextBox 8">
            <a:extLst>
              <a:ext uri="{FF2B5EF4-FFF2-40B4-BE49-F238E27FC236}">
                <a16:creationId xmlns:a16="http://schemas.microsoft.com/office/drawing/2014/main" id="{7E7AD687-2F04-397C-4EC1-700E85775399}"/>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Project knowledge graph opens the selected project. World graph explores wider context. Neither view proves a live external connection.</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9812A3EF-6B42-D06A-B5ED-B9C8077C90CE}"/>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Check domain assumptions</a:t>
            </a:r>
          </a:p>
        </p:txBody>
      </p:sp>
      <p:sp>
        <p:nvSpPr>
          <p:cNvPr id="11" name="TextBox 10">
            <a:extLst>
              <a:ext uri="{FF2B5EF4-FFF2-40B4-BE49-F238E27FC236}">
                <a16:creationId xmlns:a16="http://schemas.microsoft.com/office/drawing/2014/main" id="{64C5F4EE-051F-BC37-E833-F1CA7E5DC5F0}"/>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Inspect Domain planning inputs and the hard constraints. The aggregate simulator does not automatically enforce every industry-specific rule.</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87495DEE-5486-C2EA-3A18-35229B7CC754}"/>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The source register records retrieval on 9 September 2026. It is a dated research snapshot.</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A36EDFAA-8AAC-80D7-CE5F-B3B07C4D64BB}"/>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05</a:t>
            </a:r>
          </a:p>
        </p:txBody>
      </p:sp>
    </p:spTree>
    <p:extLst>
      <p:ext uri="{BB962C8B-B14F-4D97-AF65-F5344CB8AC3E}">
        <p14:creationId xmlns:p14="http://schemas.microsoft.com/office/powerpoint/2010/main" val="1408318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73DC58-5F1B-A603-A1B2-669B1018A89D}"/>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Mission replay and trace</a:t>
            </a:r>
          </a:p>
        </p:txBody>
      </p:sp>
      <p:sp>
        <p:nvSpPr>
          <p:cNvPr id="3" name="TextBox 2">
            <a:extLst>
              <a:ext uri="{FF2B5EF4-FFF2-40B4-BE49-F238E27FC236}">
                <a16:creationId xmlns:a16="http://schemas.microsoft.com/office/drawing/2014/main" id="{52364424-54B7-4CF7-CF7F-BA7CDE4EE330}"/>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The mission exposes the calculation and its unresolved review gates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2A793789-969A-3204-097B-DE0ECCB0CB26}"/>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The replay sequence</a:t>
            </a:r>
          </a:p>
        </p:txBody>
      </p:sp>
      <p:sp>
        <p:nvSpPr>
          <p:cNvPr id="5" name="TextBox 4">
            <a:extLst>
              <a:ext uri="{FF2B5EF4-FFF2-40B4-BE49-F238E27FC236}">
                <a16:creationId xmlns:a16="http://schemas.microsoft.com/office/drawing/2014/main" id="{D9A56E35-1C21-4E2F-F60A-80A753F4EFE6}"/>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The trace loads the project snapshot, checks the evidence boundary, computes paired simulations, compares cost and service, then evaluates numerical gates.</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6E3CBC93-83B5-19C5-3D4E-AEC8B681C2BE}"/>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Inspection and cancellation</a:t>
            </a:r>
          </a:p>
        </p:txBody>
      </p:sp>
      <p:sp>
        <p:nvSpPr>
          <p:cNvPr id="7" name="TextBox 6">
            <a:extLst>
              <a:ext uri="{FF2B5EF4-FFF2-40B4-BE49-F238E27FC236}">
                <a16:creationId xmlns:a16="http://schemas.microsoft.com/office/drawing/2014/main" id="{5369EB73-541F-9664-0EB5-C7A988EB1B73}"/>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Select a trace phase to read its explanation. Stop cancels remaining replay steps and preserves already completed artifacts.</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8A816F78-0962-5BEF-49F5-13769EC2E7AE}"/>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The result</a:t>
            </a:r>
          </a:p>
        </p:txBody>
      </p:sp>
      <p:sp>
        <p:nvSpPr>
          <p:cNvPr id="9" name="TextBox 8">
            <a:extLst>
              <a:ext uri="{FF2B5EF4-FFF2-40B4-BE49-F238E27FC236}">
                <a16:creationId xmlns:a16="http://schemas.microsoft.com/office/drawing/2014/main" id="{CBF1BB1C-BF61-033F-C144-E1476D855DBF}"/>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Inspect downside service, severe loss and the policy comparison. Record the exact run identifier before discussing a recommendation.</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E2DA85BE-B9B5-AFB2-8CCF-0C9295337B57}"/>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Specialist worker plan</a:t>
            </a:r>
          </a:p>
        </p:txBody>
      </p:sp>
      <p:sp>
        <p:nvSpPr>
          <p:cNvPr id="11" name="TextBox 10">
            <a:extLst>
              <a:ext uri="{FF2B5EF4-FFF2-40B4-BE49-F238E27FC236}">
                <a16:creationId xmlns:a16="http://schemas.microsoft.com/office/drawing/2014/main" id="{C8743C26-8481-DA42-7AB2-AC94F473E262}"/>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Change Concurrent slots to see running and queued roles. Proposed leases show project-read and artifact-write permissions.</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360E13B5-7FEE-37A5-F567-EB6A95D8190B}"/>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The replay performs a real browser calculation. Worker scheduling is a preview and spawns no processes.</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036D35DA-E6B1-5DA7-69EB-15CF0B008229}"/>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06</a:t>
            </a:r>
          </a:p>
        </p:txBody>
      </p:sp>
    </p:spTree>
    <p:extLst>
      <p:ext uri="{BB962C8B-B14F-4D97-AF65-F5344CB8AC3E}">
        <p14:creationId xmlns:p14="http://schemas.microsoft.com/office/powerpoint/2010/main" val="1686752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157695-30F0-8155-92FA-D2F23DC5BE7E}"/>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Tools and analytical handoffs</a:t>
            </a:r>
          </a:p>
        </p:txBody>
      </p:sp>
      <p:sp>
        <p:nvSpPr>
          <p:cNvPr id="3" name="TextBox 2">
            <a:extLst>
              <a:ext uri="{FF2B5EF4-FFF2-40B4-BE49-F238E27FC236}">
                <a16:creationId xmlns:a16="http://schemas.microsoft.com/office/drawing/2014/main" id="{D46E3BB4-2B5C-9CB0-1CF7-F4A42D64D33A}"/>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Users and future agents should inspect the same versioned artifacts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6BFCD98E-4E95-D891-7BAE-EDB7334F5FB4}"/>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Selecting a tool</a:t>
            </a:r>
          </a:p>
        </p:txBody>
      </p:sp>
      <p:sp>
        <p:nvSpPr>
          <p:cNvPr id="5" name="TextBox 4">
            <a:extLst>
              <a:ext uri="{FF2B5EF4-FFF2-40B4-BE49-F238E27FC236}">
                <a16:creationId xmlns:a16="http://schemas.microsoft.com/office/drawing/2014/main" id="{7852DD88-152A-B1D9-370B-CAC6946F089D}"/>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Open Tools and choose a mounted project application. Simulation runs inside Mission control. Other applications open their existing project workbench.</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8F913B87-0A3C-DB19-0AF6-F6A7D7F55827}"/>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Checking the contract</a:t>
            </a:r>
          </a:p>
        </p:txBody>
      </p:sp>
      <p:sp>
        <p:nvSpPr>
          <p:cNvPr id="7" name="TextBox 6">
            <a:extLst>
              <a:ext uri="{FF2B5EF4-FFF2-40B4-BE49-F238E27FC236}">
                <a16:creationId xmlns:a16="http://schemas.microsoft.com/office/drawing/2014/main" id="{5415A0D4-3257-2388-80F9-C56DA100EE5B}"/>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Read each tool’s input variables, method references and expected artifact. A method label describes the contract and does not prove solver execution.</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27BB7798-BB04-A9C3-E60D-8306F995247E}"/>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A useful analysis sequence</a:t>
            </a:r>
          </a:p>
        </p:txBody>
      </p:sp>
      <p:sp>
        <p:nvSpPr>
          <p:cNvPr id="9" name="TextBox 8">
            <a:extLst>
              <a:ext uri="{FF2B5EF4-FFF2-40B4-BE49-F238E27FC236}">
                <a16:creationId xmlns:a16="http://schemas.microsoft.com/office/drawing/2014/main" id="{71E06EC0-1B40-83F4-2368-F3F0B9103681}"/>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planner can review source quality in Data, inspect variation in Statistical Studio, compare allocation in Network Optimizer and test uncertainty in Simulation.</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BADC8841-6F02-6ED9-DAAA-2894D81BDD51}"/>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Runtime maturity</a:t>
            </a:r>
          </a:p>
        </p:txBody>
      </p:sp>
      <p:sp>
        <p:nvSpPr>
          <p:cNvPr id="11" name="TextBox 10">
            <a:extLst>
              <a:ext uri="{FF2B5EF4-FFF2-40B4-BE49-F238E27FC236}">
                <a16:creationId xmlns:a16="http://schemas.microsoft.com/office/drawing/2014/main" id="{77FFDB26-4E45-51CF-7728-45F582A78F79}"/>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The new Simulation engine calculates sampled outcomes. Existing specialist applications have separate demonstration limits. Live agent adapters remain a production requirement.</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7FD9E906-384B-E248-6F5A-53F5CFF45E39}"/>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Opening an application preserves project context. It does not imply automatic transfer of validated model artifacts.</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9EB1C421-7C0E-5618-9AE6-59F7095C3278}"/>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07</a:t>
            </a:r>
          </a:p>
        </p:txBody>
      </p:sp>
    </p:spTree>
    <p:extLst>
      <p:ext uri="{BB962C8B-B14F-4D97-AF65-F5344CB8AC3E}">
        <p14:creationId xmlns:p14="http://schemas.microsoft.com/office/powerpoint/2010/main" val="15652841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8E6D58-D3D0-C73C-A0AA-EB2DFE7AFD8A}"/>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Simulation assumptions</a:t>
            </a:r>
          </a:p>
        </p:txBody>
      </p:sp>
      <p:sp>
        <p:nvSpPr>
          <p:cNvPr id="3" name="TextBox 2">
            <a:extLst>
              <a:ext uri="{FF2B5EF4-FFF2-40B4-BE49-F238E27FC236}">
                <a16:creationId xmlns:a16="http://schemas.microsoft.com/office/drawing/2014/main" id="{8907E90B-5DEE-1BC3-8BBE-B159E23B87E7}"/>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A weekly model compares two policies under the same sampled shocks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61F6298A-79AF-4027-F719-FEF971DF66DF}"/>
              </a:ext>
            </a:extLst>
          </p:cNvPr>
          <p:cNvSpPr txBox="1"/>
          <p:nvPr/>
        </p:nvSpPr>
        <p:spPr>
          <a:xfrm>
            <a:off x="609600" y="2159000"/>
            <a:ext cx="5143500" cy="276999"/>
          </a:xfrm>
          <a:prstGeom prst="rect">
            <a:avLst/>
          </a:prstGeom>
          <a:noFill/>
        </p:spPr>
        <p:txBody>
          <a:bodyPr vert="horz" wrap="square" lIns="0" tIns="0" rIns="0" bIns="0" rtlCol="0">
            <a:noAutofit/>
          </a:bodyPr>
          <a:lstStyle/>
          <a:p>
            <a:r>
              <a:rPr lang="en-US" sz="2100" b="1">
                <a:solidFill>
                  <a:srgbClr val="D7FF38"/>
                </a:solidFill>
                <a:latin typeface="Arial" panose="020B0604020202020204" pitchFamily="34" charset="0"/>
              </a:rPr>
              <a:t>1  Set the operating inputs</a:t>
            </a:r>
            <a:endParaRPr lang="en-IN" sz="21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869E33E1-26F6-A6A0-9903-399222A40D7A}"/>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Open Simulation and Edit assumptions. Review demand change, capacity cut, yield, opening stock and in-transit inventory.</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710ED38F-F37D-6C3A-D0F1-DE00F0A7A179}"/>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2  Define the response</a:t>
            </a:r>
          </a:p>
        </p:txBody>
      </p:sp>
      <p:sp>
        <p:nvSpPr>
          <p:cNvPr id="7" name="TextBox 6">
            <a:extLst>
              <a:ext uri="{FF2B5EF4-FFF2-40B4-BE49-F238E27FC236}">
                <a16:creationId xmlns:a16="http://schemas.microsoft.com/office/drawing/2014/main" id="{A4C01F70-6F3F-5192-FA5E-A53E93745357}"/>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Set qualified alternate usage and its availability week. Optional expediting reduces transit by one week and adds a premium.</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3CA2F68B-D93F-3D4F-4BEF-952B5ECC767A}"/>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3  Define uncertainty</a:t>
            </a:r>
          </a:p>
        </p:txBody>
      </p:sp>
      <p:sp>
        <p:nvSpPr>
          <p:cNvPr id="9" name="TextBox 8">
            <a:extLst>
              <a:ext uri="{FF2B5EF4-FFF2-40B4-BE49-F238E27FC236}">
                <a16:creationId xmlns:a16="http://schemas.microsoft.com/office/drawing/2014/main" id="{23A8AF3A-9DB6-6986-F1E2-F25380791E80}"/>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Open Operating-state assumptions and model limits. Set state transit times and weekly transition probabilities. Each row must sum to 1.</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C446A29C-7BAC-DC4E-4126-E7F4A929706B}"/>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4  Run the comparison</a:t>
            </a:r>
          </a:p>
        </p:txBody>
      </p:sp>
      <p:sp>
        <p:nvSpPr>
          <p:cNvPr id="11" name="TextBox 10">
            <a:extLst>
              <a:ext uri="{FF2B5EF4-FFF2-40B4-BE49-F238E27FC236}">
                <a16:creationId xmlns:a16="http://schemas.microsoft.com/office/drawing/2014/main" id="{ED1CE075-4EA1-A8E2-7D81-97B3EB1DD8AD}"/>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Choose replications and a repeatable seed, then Run comparison. Defaults use 512 paired paths and seed 20260909.</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8A8A4180-6D79-B36D-90C7-1F0051ABA07C}"/>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States affect capacity and transit together. The additional capacity cut compounds with state-dependent capacity.</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1671E1FC-28C3-EEAC-F368-0572F4CA087B}"/>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08</a:t>
            </a:r>
          </a:p>
        </p:txBody>
      </p:sp>
    </p:spTree>
    <p:extLst>
      <p:ext uri="{BB962C8B-B14F-4D97-AF65-F5344CB8AC3E}">
        <p14:creationId xmlns:p14="http://schemas.microsoft.com/office/powerpoint/2010/main" val="2641372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CA3D55-2D6D-5428-F13D-EF94A6045F13}"/>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Reading the simulation</a:t>
            </a:r>
          </a:p>
        </p:txBody>
      </p:sp>
      <p:sp>
        <p:nvSpPr>
          <p:cNvPr id="3" name="TextBox 2">
            <a:extLst>
              <a:ext uri="{FF2B5EF4-FFF2-40B4-BE49-F238E27FC236}">
                <a16:creationId xmlns:a16="http://schemas.microsoft.com/office/drawing/2014/main" id="{DBD2BE58-F8A7-1EF1-2169-CF4F061C0546}"/>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The adverse tail depends on whether higher or lower values are worse</a:t>
            </a:r>
            <a:endParaRPr lang="en-IN" sz="2000">
              <a:solidFill>
                <a:srgbClr val="BEC7C6"/>
              </a:solidFill>
              <a:latin typeface="Arial" panose="020B0604020202020204" pitchFamily="34" charset="0"/>
            </a:endParaRPr>
          </a:p>
        </p:txBody>
      </p:sp>
      <p:graphicFrame>
        <p:nvGraphicFramePr>
          <p:cNvPr id="4" name="Table 3">
            <a:extLst>
              <a:ext uri="{FF2B5EF4-FFF2-40B4-BE49-F238E27FC236}">
                <a16:creationId xmlns:a16="http://schemas.microsoft.com/office/drawing/2014/main" id="{A3BFBF11-8BB4-087F-16FB-56AD4CE24212}"/>
              </a:ext>
            </a:extLst>
          </p:cNvPr>
          <p:cNvGraphicFramePr>
            <a:graphicFrameLocks noGrp="1"/>
          </p:cNvGraphicFramePr>
          <p:nvPr>
            <p:extLst>
              <p:ext uri="{D42A27DB-BD31-4B8C-83A1-F6EECF244321}">
                <p14:modId xmlns:p14="http://schemas.microsoft.com/office/powerpoint/2010/main" val="2483998461"/>
              </p:ext>
            </p:extLst>
          </p:nvPr>
        </p:nvGraphicFramePr>
        <p:xfrm>
          <a:off x="609600" y="2222500"/>
          <a:ext cx="10972800" cy="3606800"/>
        </p:xfrm>
        <a:graphic>
          <a:graphicData uri="http://schemas.openxmlformats.org/drawingml/2006/table">
            <a:tbl>
              <a:tblPr firstRow="1" bandRow="1">
                <a:tableStyleId>{5C22544A-7EE6-4342-B048-85BDC9FD1C3A}</a:tableStyleId>
              </a:tblPr>
              <a:tblGrid>
                <a:gridCol w="2962656">
                  <a:extLst>
                    <a:ext uri="{9D8B030D-6E8A-4147-A177-3AD203B41FA5}">
                      <a16:colId xmlns:a16="http://schemas.microsoft.com/office/drawing/2014/main" val="2653762919"/>
                    </a:ext>
                  </a:extLst>
                </a:gridCol>
                <a:gridCol w="8010144">
                  <a:extLst>
                    <a:ext uri="{9D8B030D-6E8A-4147-A177-3AD203B41FA5}">
                      <a16:colId xmlns:a16="http://schemas.microsoft.com/office/drawing/2014/main" val="1222867177"/>
                    </a:ext>
                  </a:extLst>
                </a:gridCol>
              </a:tblGrid>
              <a:tr h="515257">
                <a:tc>
                  <a:txBody>
                    <a:bodyPr/>
                    <a:lstStyle/>
                    <a:p>
                      <a:pPr>
                        <a:spcAft>
                          <a:spcPts val="0"/>
                        </a:spcAft>
                      </a:pPr>
                      <a:r>
                        <a:rPr lang="en-IN" sz="1900" b="1">
                          <a:solidFill>
                            <a:srgbClr val="D7FF38"/>
                          </a:solidFill>
                          <a:latin typeface="Arial" panose="020B0604020202020204" pitchFamily="34" charset="0"/>
                        </a:rPr>
                        <a:t>Computed measure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900" b="1">
                          <a:solidFill>
                            <a:srgbClr val="D7FF38"/>
                          </a:solidFill>
                          <a:latin typeface="Arial" panose="020B0604020202020204" pitchFamily="34" charset="0"/>
                        </a:rPr>
                        <a:t>Interpretation</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2071740212"/>
                  </a:ext>
                </a:extLst>
              </a:tr>
              <a:tr h="515257">
                <a:tc>
                  <a:txBody>
                    <a:bodyPr/>
                    <a:lstStyle/>
                    <a:p>
                      <a:pPr>
                        <a:spcAft>
                          <a:spcPts val="0"/>
                        </a:spcAft>
                      </a:pPr>
                      <a:r>
                        <a:rPr lang="en-IN" sz="19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900" b="0">
                          <a:solidFill>
                            <a:srgbClr val="F2F6F6"/>
                          </a:solidFill>
                          <a:latin typeface="Arial" panose="020B0604020202020204" pitchFamily="34" charset="0"/>
                        </a:rPr>
                        <a:t>Lower 5th percentile of service</a:t>
                      </a:r>
                      <a:endParaRPr lang="en-IN" sz="19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965587600"/>
                  </a:ext>
                </a:extLst>
              </a:tr>
              <a:tr h="515257">
                <a:tc>
                  <a:txBody>
                    <a:bodyPr/>
                    <a:lstStyle/>
                    <a:p>
                      <a:pPr>
                        <a:spcAft>
                          <a:spcPts val="0"/>
                        </a:spcAft>
                      </a:pPr>
                      <a:r>
                        <a:rPr lang="en-IN" sz="1900" b="0">
                          <a:solidFill>
                            <a:srgbClr val="F2F6F6"/>
                          </a:solidFill>
                          <a:latin typeface="Arial" panose="020B0604020202020204" pitchFamily="34" charset="0"/>
                        </a:rPr>
                        <a:t>P95 modeled loss</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900" b="0">
                          <a:solidFill>
                            <a:srgbClr val="F2F6F6"/>
                          </a:solidFill>
                          <a:latin typeface="Arial" panose="020B0604020202020204" pitchFamily="34" charset="0"/>
                        </a:rPr>
                        <a:t>Upper 95th percentile of loss</a:t>
                      </a:r>
                      <a:endParaRPr lang="en-IN" sz="19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996773981"/>
                  </a:ext>
                </a:extLst>
              </a:tr>
              <a:tr h="515257">
                <a:tc>
                  <a:txBody>
                    <a:bodyPr/>
                    <a:lstStyle/>
                    <a:p>
                      <a:pPr>
                        <a:spcAft>
                          <a:spcPts val="0"/>
                        </a:spcAft>
                      </a:pPr>
                      <a:r>
                        <a:rPr lang="en-IN" sz="1900" b="0">
                          <a:solidFill>
                            <a:srgbClr val="F2F6F6"/>
                          </a:solidFill>
                          <a:latin typeface="Arial" panose="020B0604020202020204" pitchFamily="34" charset="0"/>
                        </a:rPr>
                        <a:t>CVaR95</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900" b="0">
                          <a:solidFill>
                            <a:srgbClr val="F2F6F6"/>
                          </a:solidFill>
                          <a:latin typeface="Arial" panose="020B0604020202020204" pitchFamily="34" charset="0"/>
                        </a:rPr>
                        <a:t>Mean loss in the worst 5% of paths</a:t>
                      </a:r>
                      <a:endParaRPr lang="en-IN" sz="19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406614173"/>
                  </a:ext>
                </a:extLst>
              </a:tr>
              <a:tr h="515257">
                <a:tc>
                  <a:txBody>
                    <a:bodyPr/>
                    <a:lstStyle/>
                    <a:p>
                      <a:pPr>
                        <a:spcAft>
                          <a:spcPts val="0"/>
                        </a:spcAft>
                      </a:pPr>
                      <a:r>
                        <a:rPr lang="en-IN" sz="1900" b="0">
                          <a:solidFill>
                            <a:srgbClr val="F2F6F6"/>
                          </a:solidFill>
                          <a:latin typeface="Arial" panose="020B0604020202020204" pitchFamily="34" charset="0"/>
                        </a:rPr>
                        <a:t>Mean loss avoided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900" b="0">
                          <a:solidFill>
                            <a:srgbClr val="F2F6F6"/>
                          </a:solidFill>
                          <a:latin typeface="Arial" panose="020B0604020202020204" pitchFamily="34" charset="0"/>
                        </a:rPr>
                        <a:t>Net baseline minus response loss</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640578416"/>
                  </a:ext>
                </a:extLst>
              </a:tr>
              <a:tr h="515257">
                <a:tc>
                  <a:txBody>
                    <a:bodyPr/>
                    <a:lstStyle/>
                    <a:p>
                      <a:pPr>
                        <a:spcAft>
                          <a:spcPts val="0"/>
                        </a:spcAft>
                      </a:pPr>
                      <a:r>
                        <a:rPr lang="en-IN" sz="1900" b="0">
                          <a:solidFill>
                            <a:srgbClr val="F2F6F6"/>
                          </a:solidFill>
                          <a:latin typeface="Arial" panose="020B0604020202020204" pitchFamily="34" charset="0"/>
                        </a:rPr>
                        <a:t>Service gate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900" b="0">
                          <a:solidFill>
                            <a:srgbClr val="F2F6F6"/>
                          </a:solidFill>
                          <a:latin typeface="Arial" panose="020B0604020202020204" pitchFamily="34" charset="0"/>
                        </a:rPr>
                        <a:t>P05 meets the chosen service floor</a:t>
                      </a:r>
                      <a:endParaRPr lang="en-IN" sz="19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823021663"/>
                  </a:ext>
                </a:extLst>
              </a:tr>
              <a:tr h="515257">
                <a:tc>
                  <a:txBody>
                    <a:bodyPr/>
                    <a:lstStyle/>
                    <a:p>
                      <a:pPr>
                        <a:spcAft>
                          <a:spcPts val="0"/>
                        </a:spcAft>
                      </a:pPr>
                      <a:r>
                        <a:rPr lang="en-IN" sz="1900" b="0">
                          <a:solidFill>
                            <a:srgbClr val="F2F6F6"/>
                          </a:solidFill>
                          <a:latin typeface="Arial" panose="020B0604020202020204" pitchFamily="34" charset="0"/>
                        </a:rPr>
                        <a:t>Budget gate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US" sz="1900" b="0">
                          <a:solidFill>
                            <a:srgbClr val="F2F6F6"/>
                          </a:solidFill>
                          <a:latin typeface="Arial" panose="020B0604020202020204" pitchFamily="34" charset="0"/>
                        </a:rPr>
                        <a:t>Worst sampled cost meets budget</a:t>
                      </a:r>
                      <a:endParaRPr lang="en-IN" sz="1900" b="0">
                        <a:solidFill>
                          <a:srgbClr val="F2F6F6"/>
                        </a:solidFill>
                        <a:latin typeface="Arial" panose="020B0604020202020204" pitchFamily="34" charset="0"/>
                      </a:endParaRP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4119993735"/>
                  </a:ext>
                </a:extLst>
              </a:tr>
            </a:tbl>
          </a:graphicData>
        </a:graphic>
      </p:graphicFrame>
      <p:sp>
        <p:nvSpPr>
          <p:cNvPr id="5" name="TextBox 4">
            <a:extLst>
              <a:ext uri="{FF2B5EF4-FFF2-40B4-BE49-F238E27FC236}">
                <a16:creationId xmlns:a16="http://schemas.microsoft.com/office/drawing/2014/main" id="{C9A14DB3-1EAF-78C1-DB9C-09B551BF0B80}"/>
              </a:ext>
            </a:extLst>
          </p:cNvPr>
          <p:cNvSpPr txBox="1"/>
          <p:nvPr/>
        </p:nvSpPr>
        <p:spPr>
          <a:xfrm>
            <a:off x="609600" y="6108700"/>
            <a:ext cx="10744200" cy="276999"/>
          </a:xfrm>
          <a:prstGeom prst="rect">
            <a:avLst/>
          </a:prstGeom>
          <a:noFill/>
        </p:spPr>
        <p:txBody>
          <a:bodyPr vert="horz" wrap="square" lIns="0" tIns="0" rIns="0" bIns="0" rtlCol="0">
            <a:noAutofit/>
          </a:bodyPr>
          <a:lstStyle/>
          <a:p>
            <a:r>
              <a:rPr lang="en-US" sz="1500">
                <a:solidFill>
                  <a:srgbClr val="BEC7C6"/>
                </a:solidFill>
                <a:latin typeface="Arial" panose="020B0604020202020204" pitchFamily="34" charset="0"/>
              </a:rPr>
              <a:t>Outputs describe aggregate programme-equivalent flow. Integer scheduling and lot release require separate models.</a:t>
            </a:r>
            <a:endParaRPr lang="en-IN" sz="1500">
              <a:solidFill>
                <a:srgbClr val="BEC7C6"/>
              </a:solidFill>
              <a:latin typeface="Arial" panose="020B0604020202020204" pitchFamily="34" charset="0"/>
            </a:endParaRPr>
          </a:p>
        </p:txBody>
      </p:sp>
      <p:sp>
        <p:nvSpPr>
          <p:cNvPr id="6" name="TextBox 5">
            <a:extLst>
              <a:ext uri="{FF2B5EF4-FFF2-40B4-BE49-F238E27FC236}">
                <a16:creationId xmlns:a16="http://schemas.microsoft.com/office/drawing/2014/main" id="{BD0C2260-F1F2-400C-EAB3-E5E5EA5AE3E0}"/>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09</a:t>
            </a:r>
          </a:p>
        </p:txBody>
      </p:sp>
    </p:spTree>
    <p:extLst>
      <p:ext uri="{BB962C8B-B14F-4D97-AF65-F5344CB8AC3E}">
        <p14:creationId xmlns:p14="http://schemas.microsoft.com/office/powerpoint/2010/main" val="3909188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4022178-C75E-B747-7E5F-C98B6046946E}"/>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Rerun and human review</a:t>
            </a:r>
          </a:p>
        </p:txBody>
      </p:sp>
      <p:sp>
        <p:nvSpPr>
          <p:cNvPr id="3" name="TextBox 2">
            <a:extLst>
              <a:ext uri="{FF2B5EF4-FFF2-40B4-BE49-F238E27FC236}">
                <a16:creationId xmlns:a16="http://schemas.microsoft.com/office/drawing/2014/main" id="{F34A57BB-7A44-BBA4-0415-D8DC718E3E91}"/>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A changed assumption requires a fresh calculation and review</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C17B906A-2B81-579B-CD74-3D3ACBBE82EE}"/>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Retain the current artifact</a:t>
            </a:r>
          </a:p>
        </p:txBody>
      </p:sp>
      <p:sp>
        <p:nvSpPr>
          <p:cNvPr id="5" name="TextBox 4">
            <a:extLst>
              <a:ext uri="{FF2B5EF4-FFF2-40B4-BE49-F238E27FC236}">
                <a16:creationId xmlns:a16="http://schemas.microsoft.com/office/drawing/2014/main" id="{9917C5C3-50DF-AB51-FB42-E698A22220F2}"/>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Use Export run before editing. The JSON includes the input snapshot, computed summaries and sample paths. Keep its run identifier with your notes.</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83E22B8A-4E92-E3F6-FAF5-0E3E6CA5915D}"/>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Change one assumption</a:t>
            </a:r>
          </a:p>
        </p:txBody>
      </p:sp>
      <p:sp>
        <p:nvSpPr>
          <p:cNvPr id="7" name="TextBox 6">
            <a:extLst>
              <a:ext uri="{FF2B5EF4-FFF2-40B4-BE49-F238E27FC236}">
                <a16:creationId xmlns:a16="http://schemas.microsoft.com/office/drawing/2014/main" id="{6B94CA65-B7B8-71B8-7B42-D1673F9A1B3B}"/>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Reduce qualified alternate usage, move its release week or change a state probability. The stale notice identifies the earlier result.</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115E6C8A-C6D2-C972-B32A-62A4A1DAFE33}"/>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Compare the new result</a:t>
            </a:r>
          </a:p>
        </p:txBody>
      </p:sp>
      <p:sp>
        <p:nvSpPr>
          <p:cNvPr id="9" name="TextBox 8">
            <a:extLst>
              <a:ext uri="{FF2B5EF4-FFF2-40B4-BE49-F238E27FC236}">
                <a16:creationId xmlns:a16="http://schemas.microsoft.com/office/drawing/2014/main" id="{D6471C61-A907-E1A8-812C-09B390CD59AD}"/>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Choose Fork &amp; rerun. A changed input creates a different calculation identifier. Compare service and loss with the earlier export.</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80E3E6D8-9A68-3F41-8C7E-35F49A4969D5}"/>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Record the review rationale</a:t>
            </a:r>
          </a:p>
        </p:txBody>
      </p:sp>
      <p:sp>
        <p:nvSpPr>
          <p:cNvPr id="11" name="TextBox 10">
            <a:extLst>
              <a:ext uri="{FF2B5EF4-FFF2-40B4-BE49-F238E27FC236}">
                <a16:creationId xmlns:a16="http://schemas.microsoft.com/office/drawing/2014/main" id="{B513424A-BB39-AFCB-F8B4-7DFB9C5639CD}"/>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Return to Missions and enter a note of at least 12 characters against the exact run. Identify unresolved evidence and domain checks.</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BA0DAA2C-22A9-84F6-CDC5-7BF1D05968E9}"/>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Export runs to retain a portable record. Review notes rehearse the workflow and confer no production release authority.</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543DC442-C794-F56B-9029-F5377B87FCE1}"/>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10</a:t>
            </a:r>
          </a:p>
        </p:txBody>
      </p:sp>
    </p:spTree>
    <p:extLst>
      <p:ext uri="{BB962C8B-B14F-4D97-AF65-F5344CB8AC3E}">
        <p14:creationId xmlns:p14="http://schemas.microsoft.com/office/powerpoint/2010/main" val="1651563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4F90DF-4241-366C-C476-451DF8485EF3}"/>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Outcome feedback and skills</a:t>
            </a:r>
          </a:p>
        </p:txBody>
      </p:sp>
      <p:sp>
        <p:nvSpPr>
          <p:cNvPr id="3" name="TextBox 2">
            <a:extLst>
              <a:ext uri="{FF2B5EF4-FFF2-40B4-BE49-F238E27FC236}">
                <a16:creationId xmlns:a16="http://schemas.microsoft.com/office/drawing/2014/main" id="{6C7B712F-889D-978F-FF56-69FA39D661F3}"/>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The local learning flow exercises review gates without changing a production policy</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29877064-9B6E-CF95-FA9F-4DA4161113D3}"/>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Record the outcome</a:t>
            </a:r>
          </a:p>
        </p:txBody>
      </p:sp>
      <p:sp>
        <p:nvSpPr>
          <p:cNvPr id="5" name="TextBox 4">
            <a:extLst>
              <a:ext uri="{FF2B5EF4-FFF2-40B4-BE49-F238E27FC236}">
                <a16:creationId xmlns:a16="http://schemas.microsoft.com/office/drawing/2014/main" id="{E18C4016-8BDB-265E-520E-EA29548979E0}"/>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In Learning, enter observed service and an evidence note. Include the measurement window, source and changes that could affect the comparison.</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B28D6683-54CE-78EF-46FB-86732D1C36BC}"/>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Inspect the error</a:t>
            </a:r>
          </a:p>
        </p:txBody>
      </p:sp>
      <p:sp>
        <p:nvSpPr>
          <p:cNvPr id="7" name="TextBox 6">
            <a:extLst>
              <a:ext uri="{FF2B5EF4-FFF2-40B4-BE49-F238E27FC236}">
                <a16:creationId xmlns:a16="http://schemas.microsoft.com/office/drawing/2014/main" id="{039FC1EA-A597-B6F7-4CD5-81D70629AAC2}"/>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The panel compares predicted mean service with entered service. Mean absolute error uses percentage points across distinct run identifiers.</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8DF22DE0-2616-A613-F149-E10BD3273954}"/>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Exercise the shadow gate</a:t>
            </a:r>
          </a:p>
        </p:txBody>
      </p:sp>
      <p:sp>
        <p:nvSpPr>
          <p:cNvPr id="9" name="TextBox 8">
            <a:extLst>
              <a:ext uri="{FF2B5EF4-FFF2-40B4-BE49-F238E27FC236}">
                <a16:creationId xmlns:a16="http://schemas.microsoft.com/office/drawing/2014/main" id="{69C1B4A0-12EF-8140-71CA-CC227E103756}"/>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Three distinct runs with mean error at most 5 percentage points enable Draft shadow skill. Roll back draft restores the baseline reference.</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AED59A81-2DBE-FEF1-AB13-DE9F3F2F6777}"/>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Production promotion</a:t>
            </a:r>
          </a:p>
        </p:txBody>
      </p:sp>
      <p:sp>
        <p:nvSpPr>
          <p:cNvPr id="11" name="TextBox 10">
            <a:extLst>
              <a:ext uri="{FF2B5EF4-FFF2-40B4-BE49-F238E27FC236}">
                <a16:creationId xmlns:a16="http://schemas.microsoft.com/office/drawing/2014/main" id="{8B004665-81E9-7834-8051-2883CD209603}"/>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real policy needs independent outcome evidence, held-out evaluation, action coverage, a safe fallback and signed expert approval.</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1F684447-297F-6F33-6FDF-BE6C6B2B3CE0}"/>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Entered outcomes are rehearsal records. Three examples do not establish predictive validity. No reinforcement learning runs.</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58A8FDDE-D0FF-01A3-43CD-14125C1FF995}"/>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11</a:t>
            </a:r>
          </a:p>
        </p:txBody>
      </p:sp>
    </p:spTree>
    <p:extLst>
      <p:ext uri="{BB962C8B-B14F-4D97-AF65-F5344CB8AC3E}">
        <p14:creationId xmlns:p14="http://schemas.microsoft.com/office/powerpoint/2010/main" val="783650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2E7F52-23E9-2696-62E3-B46C3053DC69}"/>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A production pilot</a:t>
            </a:r>
          </a:p>
        </p:txBody>
      </p:sp>
      <p:sp>
        <p:nvSpPr>
          <p:cNvPr id="3" name="TextBox 2">
            <a:extLst>
              <a:ext uri="{FF2B5EF4-FFF2-40B4-BE49-F238E27FC236}">
                <a16:creationId xmlns:a16="http://schemas.microsoft.com/office/drawing/2014/main" id="{006B993E-982B-1542-65C3-3926292AADBA}"/>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One complete, attributable decision cycle is the next operating milestone</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68C1E30B-E672-E651-8352-44A7941C75F8}"/>
              </a:ext>
            </a:extLst>
          </p:cNvPr>
          <p:cNvSpPr txBox="1"/>
          <p:nvPr/>
        </p:nvSpPr>
        <p:spPr>
          <a:xfrm>
            <a:off x="6096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Pilot scope</a:t>
            </a:r>
          </a:p>
        </p:txBody>
      </p:sp>
      <p:sp>
        <p:nvSpPr>
          <p:cNvPr id="5" name="TextBox 4">
            <a:extLst>
              <a:ext uri="{FF2B5EF4-FFF2-40B4-BE49-F238E27FC236}">
                <a16:creationId xmlns:a16="http://schemas.microsoft.com/office/drawing/2014/main" id="{F87268BE-5B5D-06D0-1030-37DA28C1107D}"/>
              </a:ext>
            </a:extLst>
          </p:cNvPr>
          <p:cNvSpPr txBox="1"/>
          <p:nvPr/>
        </p:nvSpPr>
        <p:spPr>
          <a:xfrm>
            <a:off x="6096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Use one approved product family, a small supplier set and dated orders. Rehearse a six-week capacity loss with qualified alternates.</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710A5E00-3A15-7F69-6223-0049777F48BA}"/>
              </a:ext>
            </a:extLst>
          </p:cNvPr>
          <p:cNvSpPr txBox="1"/>
          <p:nvPr/>
        </p:nvSpPr>
        <p:spPr>
          <a:xfrm>
            <a:off x="6286500" y="2159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Data and identity</a:t>
            </a:r>
          </a:p>
        </p:txBody>
      </p:sp>
      <p:sp>
        <p:nvSpPr>
          <p:cNvPr id="7" name="TextBox 6">
            <a:extLst>
              <a:ext uri="{FF2B5EF4-FFF2-40B4-BE49-F238E27FC236}">
                <a16:creationId xmlns:a16="http://schemas.microsoft.com/office/drawing/2014/main" id="{B477108C-F28D-5DC5-13D8-B470A5D8D931}"/>
              </a:ext>
            </a:extLst>
          </p:cNvPr>
          <p:cNvSpPr txBox="1"/>
          <p:nvPr/>
        </p:nvSpPr>
        <p:spPr>
          <a:xfrm>
            <a:off x="6286500" y="2654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Add tenant-enforced access, collector enrollment, queryable data versions and durable evidence. Verify every source boundary before ingestion.</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5340B104-C0D3-272D-C9B2-52B467D20196}"/>
              </a:ext>
            </a:extLst>
          </p:cNvPr>
          <p:cNvSpPr txBox="1"/>
          <p:nvPr/>
        </p:nvSpPr>
        <p:spPr>
          <a:xfrm>
            <a:off x="6096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Execution and governance</a:t>
            </a:r>
          </a:p>
        </p:txBody>
      </p:sp>
      <p:sp>
        <p:nvSpPr>
          <p:cNvPr id="9" name="TextBox 8">
            <a:extLst>
              <a:ext uri="{FF2B5EF4-FFF2-40B4-BE49-F238E27FC236}">
                <a16:creationId xmlns:a16="http://schemas.microsoft.com/office/drawing/2014/main" id="{4B84BBDF-F03C-30A3-C010-905751FCF158}"/>
              </a:ext>
            </a:extLst>
          </p:cNvPr>
          <p:cNvSpPr txBox="1"/>
          <p:nvPr/>
        </p:nvSpPr>
        <p:spPr>
          <a:xfrm>
            <a:off x="6096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Add cancellable jobs, tool contracts, worker budgets, immutable run history and approval of an exact decision version.</a:t>
            </a:r>
            <a:endParaRPr lang="en-IN" sz="1900">
              <a:solidFill>
                <a:srgbClr val="F2F6F6"/>
              </a:solidFill>
              <a:latin typeface="Arial" panose="020B0604020202020204" pitchFamily="34" charset="0"/>
            </a:endParaRPr>
          </a:p>
        </p:txBody>
      </p:sp>
      <p:sp>
        <p:nvSpPr>
          <p:cNvPr id="10" name="TextBox 9">
            <a:extLst>
              <a:ext uri="{FF2B5EF4-FFF2-40B4-BE49-F238E27FC236}">
                <a16:creationId xmlns:a16="http://schemas.microsoft.com/office/drawing/2014/main" id="{5FE7BFC2-8913-EEA7-5883-4809DABCF141}"/>
              </a:ext>
            </a:extLst>
          </p:cNvPr>
          <p:cNvSpPr txBox="1"/>
          <p:nvPr/>
        </p:nvSpPr>
        <p:spPr>
          <a:xfrm>
            <a:off x="6286500" y="4191000"/>
            <a:ext cx="5143500" cy="276999"/>
          </a:xfrm>
          <a:prstGeom prst="rect">
            <a:avLst/>
          </a:prstGeom>
          <a:noFill/>
        </p:spPr>
        <p:txBody>
          <a:bodyPr vert="horz" wrap="square" lIns="0" tIns="0" rIns="0" bIns="0" rtlCol="0">
            <a:noAutofit/>
          </a:bodyPr>
          <a:lstStyle/>
          <a:p>
            <a:r>
              <a:rPr lang="en-IN" sz="2100" b="1">
                <a:solidFill>
                  <a:srgbClr val="D7FF38"/>
                </a:solidFill>
                <a:latin typeface="Arial" panose="020B0604020202020204" pitchFamily="34" charset="0"/>
              </a:rPr>
              <a:t>Acceptance evidence</a:t>
            </a:r>
          </a:p>
        </p:txBody>
      </p:sp>
      <p:sp>
        <p:nvSpPr>
          <p:cNvPr id="11" name="TextBox 10">
            <a:extLst>
              <a:ext uri="{FF2B5EF4-FFF2-40B4-BE49-F238E27FC236}">
                <a16:creationId xmlns:a16="http://schemas.microsoft.com/office/drawing/2014/main" id="{405797BB-B1E8-483D-D9AB-EF3812C7A6A5}"/>
              </a:ext>
            </a:extLst>
          </p:cNvPr>
          <p:cNvSpPr txBox="1"/>
          <p:nvPr/>
        </p:nvSpPr>
        <p:spPr>
          <a:xfrm>
            <a:off x="6286500" y="4686300"/>
            <a:ext cx="51435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Reproduce results from stored inputs. Reject a forged project identifier. Show an infeasible case, prevent stale approval and reconcile any approved external action.</a:t>
            </a:r>
            <a:endParaRPr lang="en-IN" sz="1900">
              <a:solidFill>
                <a:srgbClr val="F2F6F6"/>
              </a:solidFill>
              <a:latin typeface="Arial" panose="020B0604020202020204" pitchFamily="34" charset="0"/>
            </a:endParaRPr>
          </a:p>
        </p:txBody>
      </p:sp>
      <p:sp>
        <p:nvSpPr>
          <p:cNvPr id="12" name="TextBox 11">
            <a:extLst>
              <a:ext uri="{FF2B5EF4-FFF2-40B4-BE49-F238E27FC236}">
                <a16:creationId xmlns:a16="http://schemas.microsoft.com/office/drawing/2014/main" id="{94FA3EC0-E962-5C26-F92E-EFCC73413C99}"/>
              </a:ext>
            </a:extLst>
          </p:cNvPr>
          <p:cNvSpPr txBox="1"/>
          <p:nvPr/>
        </p:nvSpPr>
        <p:spPr>
          <a:xfrm>
            <a:off x="609600" y="63246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Still required: live integrations, local companion/chat, model orchestration, durable approvals and operational write-back.</a:t>
            </a:r>
            <a:endParaRPr lang="en-IN" sz="1300">
              <a:solidFill>
                <a:srgbClr val="BEC7C6"/>
              </a:solidFill>
              <a:latin typeface="Arial" panose="020B0604020202020204" pitchFamily="34" charset="0"/>
            </a:endParaRPr>
          </a:p>
        </p:txBody>
      </p:sp>
      <p:sp>
        <p:nvSpPr>
          <p:cNvPr id="13" name="TextBox 12">
            <a:extLst>
              <a:ext uri="{FF2B5EF4-FFF2-40B4-BE49-F238E27FC236}">
                <a16:creationId xmlns:a16="http://schemas.microsoft.com/office/drawing/2014/main" id="{05F9329F-9DBE-2825-4773-10D37E943645}"/>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12</a:t>
            </a:r>
          </a:p>
        </p:txBody>
      </p:sp>
    </p:spTree>
    <p:extLst>
      <p:ext uri="{BB962C8B-B14F-4D97-AF65-F5344CB8AC3E}">
        <p14:creationId xmlns:p14="http://schemas.microsoft.com/office/powerpoint/2010/main" val="5198123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D16204-C22B-B555-E2A5-3338E4E07E50}"/>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Apple: Launch component continuity</a:t>
            </a:r>
          </a:p>
        </p:txBody>
      </p:sp>
      <p:sp>
        <p:nvSpPr>
          <p:cNvPr id="3" name="TextBox 2">
            <a:extLst>
              <a:ext uri="{FF2B5EF4-FFF2-40B4-BE49-F238E27FC236}">
                <a16:creationId xmlns:a16="http://schemas.microsoft.com/office/drawing/2014/main" id="{E6F7DAC7-92EA-6542-17CD-47D4CA506908}"/>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Priority smartphone and wearable launch configurations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36641898-9A8E-31D8-0CC6-5D190411AA9C}"/>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2025-07-15</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B8563682-6527-CA3B-2747-C9C54441B3A4}"/>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Apple announced a $500 million multiyear commitment for MP Materials magnets and a planned rare-earth recycling line.</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A9C034F8-8E0A-D014-EBE4-6D5E2D0903D2}"/>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B445D2C3-B884-6A4E-6B73-6D0B5B2FDA27}"/>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magnet qualification hold overlaps a route delay and launch demand pulse.
Try: Move alternate availability from week 2 to week 4.</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009B370C-5712-B5AC-CABB-90AF15B190D8}"/>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8 weeks    10,000 devices/week    32% capacity cut    12%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006B1FDE-4AA4-4181-74C0-95E09F5F4273}"/>
              </a:ext>
            </a:extLst>
          </p:cNvPr>
          <p:cNvGraphicFramePr>
            <a:graphicFrameLocks noGrp="1"/>
          </p:cNvGraphicFramePr>
          <p:nvPr>
            <p:extLst>
              <p:ext uri="{D42A27DB-BD31-4B8C-83A1-F6EECF244321}">
                <p14:modId xmlns:p14="http://schemas.microsoft.com/office/powerpoint/2010/main" val="691825704"/>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314752063"/>
                    </a:ext>
                  </a:extLst>
                </a:gridCol>
                <a:gridCol w="2633472">
                  <a:extLst>
                    <a:ext uri="{9D8B030D-6E8A-4147-A177-3AD203B41FA5}">
                      <a16:colId xmlns:a16="http://schemas.microsoft.com/office/drawing/2014/main" val="1218206630"/>
                    </a:ext>
                  </a:extLst>
                </a:gridCol>
                <a:gridCol w="2633472">
                  <a:extLst>
                    <a:ext uri="{9D8B030D-6E8A-4147-A177-3AD203B41FA5}">
                      <a16:colId xmlns:a16="http://schemas.microsoft.com/office/drawing/2014/main" val="3677292784"/>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3818597492"/>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47.7%</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70.0%</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386323804"/>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$8.54M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$5.29M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607607895"/>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$9.02M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$5.75M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468646750"/>
                  </a:ext>
                </a:extLst>
              </a:tr>
            </a:tbl>
          </a:graphicData>
        </a:graphic>
      </p:graphicFrame>
      <p:sp>
        <p:nvSpPr>
          <p:cNvPr id="10" name="TextBox 9">
            <a:extLst>
              <a:ext uri="{FF2B5EF4-FFF2-40B4-BE49-F238E27FC236}">
                <a16:creationId xmlns:a16="http://schemas.microsoft.com/office/drawing/2014/main" id="{379BE788-25A9-231C-2ED9-71752FC93A96}"/>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95%: fail. Budget: pass. Domain review: Check complete qualified BOMs and the 1,800-device weekly airfreight ceiling.</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A23D5B7D-FACE-26AC-BA67-1A9CEE4EDABB}"/>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13</a:t>
            </a:r>
          </a:p>
        </p:txBody>
      </p:sp>
    </p:spTree>
    <p:extLst>
      <p:ext uri="{BB962C8B-B14F-4D97-AF65-F5344CB8AC3E}">
        <p14:creationId xmlns:p14="http://schemas.microsoft.com/office/powerpoint/2010/main" val="1531081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522B66-8198-1479-4D3F-34F31C8D911E}"/>
              </a:ext>
            </a:extLst>
          </p:cNvPr>
          <p:cNvSpPr txBox="1"/>
          <p:nvPr/>
        </p:nvSpPr>
        <p:spPr>
          <a:xfrm>
            <a:off x="609600" y="368300"/>
            <a:ext cx="10972800" cy="276999"/>
          </a:xfrm>
          <a:prstGeom prst="rect">
            <a:avLst/>
          </a:prstGeom>
          <a:noFill/>
        </p:spPr>
        <p:txBody>
          <a:bodyPr vert="horz" wrap="square" lIns="0" tIns="0" rIns="0" bIns="0" rtlCol="0">
            <a:noAutofit/>
          </a:bodyPr>
          <a:lstStyle/>
          <a:p>
            <a:r>
              <a:rPr lang="en-US" sz="3200" b="1">
                <a:solidFill>
                  <a:srgbClr val="F2F6F6"/>
                </a:solidFill>
                <a:latin typeface="Arial" panose="020B0604020202020204" pitchFamily="34" charset="0"/>
              </a:rPr>
              <a:t>Coca-Cola: Water and bottler allocation</a:t>
            </a:r>
            <a:endParaRPr lang="en-IN" sz="3200" b="1">
              <a:solidFill>
                <a:srgbClr val="F2F6F6"/>
              </a:solidFill>
              <a:latin typeface="Arial" panose="020B0604020202020204" pitchFamily="34" charset="0"/>
            </a:endParaRPr>
          </a:p>
        </p:txBody>
      </p:sp>
      <p:sp>
        <p:nvSpPr>
          <p:cNvPr id="3" name="TextBox 2">
            <a:extLst>
              <a:ext uri="{FF2B5EF4-FFF2-40B4-BE49-F238E27FC236}">
                <a16:creationId xmlns:a16="http://schemas.microsoft.com/office/drawing/2014/main" id="{86223C08-EB0E-56DF-0377-6163D31C39A4}"/>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IN" sz="2000">
                <a:solidFill>
                  <a:srgbClr val="BEC7C6"/>
                </a:solidFill>
                <a:latin typeface="Arial" panose="020B0604020202020204" pitchFamily="34" charset="0"/>
              </a:rPr>
              <a:t>Regional Coca-Cola and Zero Sugar bottle/can mix</a:t>
            </a:r>
          </a:p>
        </p:txBody>
      </p:sp>
      <p:sp>
        <p:nvSpPr>
          <p:cNvPr id="4" name="TextBox 3">
            <a:extLst>
              <a:ext uri="{FF2B5EF4-FFF2-40B4-BE49-F238E27FC236}">
                <a16:creationId xmlns:a16="http://schemas.microsoft.com/office/drawing/2014/main" id="{15D53A71-07EA-1687-C795-5FB5BE2F3B54}"/>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2025-12-31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7188BA0C-016F-F7DD-3DB1-D6613C5538B5}"/>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The Coca-Cola system sold 33.8 billion unit cases in 2025. Trademark Coca-Cola represented 47% of worldwide volume.</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CE389ED7-89A0-1793-4529-7FA94683C082}"/>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B7BE098E-4546-A963-2C93-271A23FC9F99}"/>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heatwave increases demand while water withdrawal and can supply fall.
Try: Increase the demand change, then reduce the capacity cut.</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2F2B65C6-E83E-0E25-44BE-CBEE51499F30}"/>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8 weeks    42,000 unit cases/week    28% capacity cut    18%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58903469-70F8-7C50-25B3-2973869C73A3}"/>
              </a:ext>
            </a:extLst>
          </p:cNvPr>
          <p:cNvGraphicFramePr>
            <a:graphicFrameLocks noGrp="1"/>
          </p:cNvGraphicFramePr>
          <p:nvPr>
            <p:extLst>
              <p:ext uri="{D42A27DB-BD31-4B8C-83A1-F6EECF244321}">
                <p14:modId xmlns:p14="http://schemas.microsoft.com/office/powerpoint/2010/main" val="1365116790"/>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3782712517"/>
                    </a:ext>
                  </a:extLst>
                </a:gridCol>
                <a:gridCol w="2633472">
                  <a:extLst>
                    <a:ext uri="{9D8B030D-6E8A-4147-A177-3AD203B41FA5}">
                      <a16:colId xmlns:a16="http://schemas.microsoft.com/office/drawing/2014/main" val="2238845211"/>
                    </a:ext>
                  </a:extLst>
                </a:gridCol>
                <a:gridCol w="2633472">
                  <a:extLst>
                    <a:ext uri="{9D8B030D-6E8A-4147-A177-3AD203B41FA5}">
                      <a16:colId xmlns:a16="http://schemas.microsoft.com/office/drawing/2014/main" val="3820269745"/>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1344302108"/>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40.9%</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61.9%</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001141279"/>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$1.16M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$851.65K</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4028351383"/>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$1.21M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$901.59K</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868752609"/>
                  </a:ext>
                </a:extLst>
              </a:tr>
            </a:tbl>
          </a:graphicData>
        </a:graphic>
      </p:graphicFrame>
      <p:sp>
        <p:nvSpPr>
          <p:cNvPr id="10" name="TextBox 9">
            <a:extLst>
              <a:ext uri="{FF2B5EF4-FFF2-40B4-BE49-F238E27FC236}">
                <a16:creationId xmlns:a16="http://schemas.microsoft.com/office/drawing/2014/main" id="{E28EDADC-9E0D-BF8C-5ABA-D3D4675A2DC7}"/>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96%: fail. Budget: pass. Domain review: Check local water permits, compatible packs and remaining shelf life.</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2F0A04C9-92DD-3AF3-8517-B7A22370E2E6}"/>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14</a:t>
            </a:r>
          </a:p>
        </p:txBody>
      </p:sp>
    </p:spTree>
    <p:extLst>
      <p:ext uri="{BB962C8B-B14F-4D97-AF65-F5344CB8AC3E}">
        <p14:creationId xmlns:p14="http://schemas.microsoft.com/office/powerpoint/2010/main" val="3943671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AD6DB53-2189-7377-E2FC-E39B8BC31E38}"/>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Gucci: Traceable collection planning</a:t>
            </a:r>
          </a:p>
        </p:txBody>
      </p:sp>
      <p:sp>
        <p:nvSpPr>
          <p:cNvPr id="3" name="TextBox 2">
            <a:extLst>
              <a:ext uri="{FF2B5EF4-FFF2-40B4-BE49-F238E27FC236}">
                <a16:creationId xmlns:a16="http://schemas.microsoft.com/office/drawing/2014/main" id="{8F7D967A-6758-3F4E-5060-90A0FDCA50A3}"/>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Traceable leather goods for a seasonal collection</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5BA8281F-9BC8-DC0B-479C-C7BF7218212F}"/>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2025-12-31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486058D9-BA00-16F4-6BE8-F05850AB387C}"/>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Gucci reported €6 billion 2025 revenue, down 19% on a comparable basis. Directly operated retail represented 92% of sales.</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3983BE13-6235-7CAB-6148-2D56F0B6C1C3}"/>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EF26BBFB-29C5-9CD6-EC18-F8DF6D6478DB}"/>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Leather quarantine and artisan capacity constrain a seasonal collection.
Try: Reduce qualified alternate usage and inspect the service tail.</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9F71EC42-E615-ED58-CBA1-53A23B547C78}"/>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10 weeks    1,800 pieces/week    24% capacity cut    7%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398313CB-E795-50AC-FBEC-0B13B8A1847B}"/>
              </a:ext>
            </a:extLst>
          </p:cNvPr>
          <p:cNvGraphicFramePr>
            <a:graphicFrameLocks noGrp="1"/>
          </p:cNvGraphicFramePr>
          <p:nvPr>
            <p:extLst>
              <p:ext uri="{D42A27DB-BD31-4B8C-83A1-F6EECF244321}">
                <p14:modId xmlns:p14="http://schemas.microsoft.com/office/powerpoint/2010/main" val="2243019755"/>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3925570689"/>
                    </a:ext>
                  </a:extLst>
                </a:gridCol>
                <a:gridCol w="2633472">
                  <a:extLst>
                    <a:ext uri="{9D8B030D-6E8A-4147-A177-3AD203B41FA5}">
                      <a16:colId xmlns:a16="http://schemas.microsoft.com/office/drawing/2014/main" val="3075457930"/>
                    </a:ext>
                  </a:extLst>
                </a:gridCol>
                <a:gridCol w="2633472">
                  <a:extLst>
                    <a:ext uri="{9D8B030D-6E8A-4147-A177-3AD203B41FA5}">
                      <a16:colId xmlns:a16="http://schemas.microsoft.com/office/drawing/2014/main" val="2106670210"/>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2477792269"/>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52.8%</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68.5%</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997451249"/>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$6.19M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$4.44M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280555170"/>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$6.72M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$4.91M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816681036"/>
                  </a:ext>
                </a:extLst>
              </a:tr>
            </a:tbl>
          </a:graphicData>
        </a:graphic>
      </p:graphicFrame>
      <p:sp>
        <p:nvSpPr>
          <p:cNvPr id="10" name="TextBox 9">
            <a:extLst>
              <a:ext uri="{FF2B5EF4-FFF2-40B4-BE49-F238E27FC236}">
                <a16:creationId xmlns:a16="http://schemas.microsoft.com/office/drawing/2014/main" id="{C004957A-C7ED-4920-0E08-2C1FF88B09BC}"/>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92%: fail. Budget: pass. Domain review: Check lot origin, artisan eligibility and regional collection demand.</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74F1E704-20CC-13E1-ED36-71F46E87573E}"/>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15</a:t>
            </a:r>
          </a:p>
        </p:txBody>
      </p:sp>
    </p:spTree>
    <p:extLst>
      <p:ext uri="{BB962C8B-B14F-4D97-AF65-F5344CB8AC3E}">
        <p14:creationId xmlns:p14="http://schemas.microsoft.com/office/powerpoint/2010/main" val="3083071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E23622C-54DB-54CD-94E7-0E189CB010D1}"/>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Tata Motors: Vehicle configuration continuity</a:t>
            </a:r>
          </a:p>
        </p:txBody>
      </p:sp>
      <p:sp>
        <p:nvSpPr>
          <p:cNvPr id="3" name="TextBox 2">
            <a:extLst>
              <a:ext uri="{FF2B5EF4-FFF2-40B4-BE49-F238E27FC236}">
                <a16:creationId xmlns:a16="http://schemas.microsoft.com/office/drawing/2014/main" id="{1EE2F3BA-97B4-5A6C-B881-BE224DB2A5CC}"/>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Qualified controller sets across a mixed vehicle programme</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B4433454-C9CA-0D00-17F8-24224AA31ECD}"/>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2025-03-31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01BB8F8C-89BC-DF97-E1B4-FD7BAF1ECED7}"/>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Tata Motors reported FY25 passenger-vehicle EV penetration of 11% and CNG penetration of 25%, illustrating a mixed-powertrain planning problem.</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368DEB0C-2878-6467-5D67-7CCF7F15484C}"/>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2AD66203-0A8E-0D3A-6A9E-DBB0D531C2A1}"/>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controller allocation cut overlaps a hypothetical Cape-route delay.
Try: Increase the disrupted-state lead time and rerun.</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0D266179-F02F-81BC-E6A6-0752E6D816AE}"/>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8 weeks    3,200 vehicles/week    26% capacity cut    9%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51B352B3-2724-0F42-A97C-87DB1C865138}"/>
              </a:ext>
            </a:extLst>
          </p:cNvPr>
          <p:cNvGraphicFramePr>
            <a:graphicFrameLocks noGrp="1"/>
          </p:cNvGraphicFramePr>
          <p:nvPr>
            <p:extLst>
              <p:ext uri="{D42A27DB-BD31-4B8C-83A1-F6EECF244321}">
                <p14:modId xmlns:p14="http://schemas.microsoft.com/office/powerpoint/2010/main" val="213166775"/>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4124238831"/>
                    </a:ext>
                  </a:extLst>
                </a:gridCol>
                <a:gridCol w="2633472">
                  <a:extLst>
                    <a:ext uri="{9D8B030D-6E8A-4147-A177-3AD203B41FA5}">
                      <a16:colId xmlns:a16="http://schemas.microsoft.com/office/drawing/2014/main" val="4240508068"/>
                    </a:ext>
                  </a:extLst>
                </a:gridCol>
                <a:gridCol w="2633472">
                  <a:extLst>
                    <a:ext uri="{9D8B030D-6E8A-4147-A177-3AD203B41FA5}">
                      <a16:colId xmlns:a16="http://schemas.microsoft.com/office/drawing/2014/main" val="4197545158"/>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3374210744"/>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53.5%</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71.3%</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55981683"/>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$28.31M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$18.53M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872419908"/>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$30.14M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$20.12M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593106058"/>
                  </a:ext>
                </a:extLst>
              </a:tr>
            </a:tbl>
          </a:graphicData>
        </a:graphic>
      </p:graphicFrame>
      <p:sp>
        <p:nvSpPr>
          <p:cNvPr id="10" name="TextBox 9">
            <a:extLst>
              <a:ext uri="{FF2B5EF4-FFF2-40B4-BE49-F238E27FC236}">
                <a16:creationId xmlns:a16="http://schemas.microsoft.com/office/drawing/2014/main" id="{B670501F-BEE5-03FD-23D4-E10994AFAF35}"/>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94%: fail. Budget: pass. Domain review: Reserve service parts and verify controller, software and variant eligibility.</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BACCA9B2-8C03-D4C6-4325-0B1E88B6440F}"/>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16</a:t>
            </a:r>
          </a:p>
        </p:txBody>
      </p:sp>
    </p:spTree>
    <p:extLst>
      <p:ext uri="{BB962C8B-B14F-4D97-AF65-F5344CB8AC3E}">
        <p14:creationId xmlns:p14="http://schemas.microsoft.com/office/powerpoint/2010/main" val="23015361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BDDF6E-C792-6DF5-D6C6-BD28F1ECC280}"/>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Tesla: Battery programme allocation</a:t>
            </a:r>
          </a:p>
        </p:txBody>
      </p:sp>
      <p:sp>
        <p:nvSpPr>
          <p:cNvPr id="3" name="TextBox 2">
            <a:extLst>
              <a:ext uri="{FF2B5EF4-FFF2-40B4-BE49-F238E27FC236}">
                <a16:creationId xmlns:a16="http://schemas.microsoft.com/office/drawing/2014/main" id="{A3BEE866-458B-D9FB-02D3-1A7B2F8B1F61}"/>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Qualified battery packs and competing storage commitments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70613580-6FFD-E92B-7FE2-866DFB9D3C0B}"/>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2025-12-31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250B5BB1-D625-242E-3DD3-4D38590AAE4E}"/>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Tesla reported 1,636,129 vehicle deliveries and 46.7 GWh of energy-storage deployments for 2025.</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26512797-76E0-98A3-3544-3FF4BF17B0C6}"/>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2D547620-A9FC-B229-D1F2-F180AB295DD2}"/>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graphite delay overlaps lower cell yield and uncertain recycled supply.
Try: Reduce qualified yield and compare P05 service with mean loss.</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D9DAE8B1-6266-885A-9A0A-40A532B1FDB3}"/>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8 weeks    5,400 pack equivalents/week    29% capacity cut    11%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90465470-D611-D47E-E927-FD010111C375}"/>
              </a:ext>
            </a:extLst>
          </p:cNvPr>
          <p:cNvGraphicFramePr>
            <a:graphicFrameLocks noGrp="1"/>
          </p:cNvGraphicFramePr>
          <p:nvPr>
            <p:extLst>
              <p:ext uri="{D42A27DB-BD31-4B8C-83A1-F6EECF244321}">
                <p14:modId xmlns:p14="http://schemas.microsoft.com/office/powerpoint/2010/main" val="3803523862"/>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3317129215"/>
                    </a:ext>
                  </a:extLst>
                </a:gridCol>
                <a:gridCol w="2633472">
                  <a:extLst>
                    <a:ext uri="{9D8B030D-6E8A-4147-A177-3AD203B41FA5}">
                      <a16:colId xmlns:a16="http://schemas.microsoft.com/office/drawing/2014/main" val="4221263158"/>
                    </a:ext>
                  </a:extLst>
                </a:gridCol>
                <a:gridCol w="2633472">
                  <a:extLst>
                    <a:ext uri="{9D8B030D-6E8A-4147-A177-3AD203B41FA5}">
                      <a16:colId xmlns:a16="http://schemas.microsoft.com/office/drawing/2014/main" val="1824678937"/>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3095978557"/>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46.5%</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65.6%</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429611387"/>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$43.24M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$29.45M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366892069"/>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$46.07M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$32.41M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136001285"/>
                  </a:ext>
                </a:extLst>
              </a:tr>
            </a:tbl>
          </a:graphicData>
        </a:graphic>
      </p:graphicFrame>
      <p:sp>
        <p:nvSpPr>
          <p:cNvPr id="10" name="TextBox 9">
            <a:extLst>
              <a:ext uri="{FF2B5EF4-FFF2-40B4-BE49-F238E27FC236}">
                <a16:creationId xmlns:a16="http://schemas.microsoft.com/office/drawing/2014/main" id="{3D18B573-C5E5-E3D4-EC51-5A872EBC3980}"/>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95%: fail. Budget: pass. Domain review: Check chemistry eligibility, formation capacity and assay-released recovery.</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7C233E58-AF2A-BDBE-D253-7BB8A27CF85C}"/>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17</a:t>
            </a:r>
          </a:p>
        </p:txBody>
      </p:sp>
    </p:spTree>
    <p:extLst>
      <p:ext uri="{BB962C8B-B14F-4D97-AF65-F5344CB8AC3E}">
        <p14:creationId xmlns:p14="http://schemas.microsoft.com/office/powerpoint/2010/main" val="127425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505F560-A409-D3E9-FB2E-AC6625725324}"/>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BYD: Regional localization</a:t>
            </a:r>
          </a:p>
        </p:txBody>
      </p:sp>
      <p:sp>
        <p:nvSpPr>
          <p:cNvPr id="3" name="TextBox 2">
            <a:extLst>
              <a:ext uri="{FF2B5EF4-FFF2-40B4-BE49-F238E27FC236}">
                <a16:creationId xmlns:a16="http://schemas.microsoft.com/office/drawing/2014/main" id="{D08D1701-D3D5-6DFE-102C-BA3C75861F66}"/>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Country-homologated EV variants and regional assembly</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50DDAAC8-DE6D-08E2-A3BF-1DAABD6BA936}"/>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2024-07-04</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D7B86B9F-54EE-B39E-748A-12E82DDD68EF}"/>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BYD announced annual nameplate capacity of 150,000 vehicles at its Thailand factory opening in July 2024.</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8E73FD2A-656B-A1AC-1F0C-D661269C2731}"/>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BD3D82AD-1FD3-D186-F1D1-24D6A939AB98}"/>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Vessel congestion overlaps a local ramp with origin and homologation gates.
Try: Move alternate availability later and inspect the impact.</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85B4ED76-817E-A3C9-9A63-3F139B939DE8}"/>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10 weeks    4,100 vehicles/week    21% capacity cut    14%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DC4B2366-23A5-C9B6-0589-A5D2E526B6D8}"/>
              </a:ext>
            </a:extLst>
          </p:cNvPr>
          <p:cNvGraphicFramePr>
            <a:graphicFrameLocks noGrp="1"/>
          </p:cNvGraphicFramePr>
          <p:nvPr>
            <p:extLst>
              <p:ext uri="{D42A27DB-BD31-4B8C-83A1-F6EECF244321}">
                <p14:modId xmlns:p14="http://schemas.microsoft.com/office/powerpoint/2010/main" val="1027714195"/>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1111373465"/>
                    </a:ext>
                  </a:extLst>
                </a:gridCol>
                <a:gridCol w="2633472">
                  <a:extLst>
                    <a:ext uri="{9D8B030D-6E8A-4147-A177-3AD203B41FA5}">
                      <a16:colId xmlns:a16="http://schemas.microsoft.com/office/drawing/2014/main" val="512245458"/>
                    </a:ext>
                  </a:extLst>
                </a:gridCol>
                <a:gridCol w="2633472">
                  <a:extLst>
                    <a:ext uri="{9D8B030D-6E8A-4147-A177-3AD203B41FA5}">
                      <a16:colId xmlns:a16="http://schemas.microsoft.com/office/drawing/2014/main" val="4107090091"/>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936352139"/>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51.6%</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70.2%</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117207816"/>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$42.99M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$29.04M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4207915408"/>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$46.27M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$32.08M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772972531"/>
                  </a:ext>
                </a:extLst>
              </a:tr>
            </a:tbl>
          </a:graphicData>
        </a:graphic>
      </p:graphicFrame>
      <p:sp>
        <p:nvSpPr>
          <p:cNvPr id="10" name="TextBox 9">
            <a:extLst>
              <a:ext uri="{FF2B5EF4-FFF2-40B4-BE49-F238E27FC236}">
                <a16:creationId xmlns:a16="http://schemas.microsoft.com/office/drawing/2014/main" id="{25017A08-6BAE-5897-82D5-89909A399679}"/>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94%: fail. Budget: pass. Domain review: Refresh origin and tariff treatment and verify market homologation.</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8E9AA1DD-AE5B-1279-98BD-3FDDC672390F}"/>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18</a:t>
            </a:r>
          </a:p>
        </p:txBody>
      </p:sp>
    </p:spTree>
    <p:extLst>
      <p:ext uri="{BB962C8B-B14F-4D97-AF65-F5344CB8AC3E}">
        <p14:creationId xmlns:p14="http://schemas.microsoft.com/office/powerpoint/2010/main" val="2830277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77D3DA3-159A-D4E4-CEFD-840BAC100B75}"/>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Hershey: Seasonal cocoa campaigns</a:t>
            </a:r>
          </a:p>
        </p:txBody>
      </p:sp>
      <p:sp>
        <p:nvSpPr>
          <p:cNvPr id="3" name="TextBox 2">
            <a:extLst>
              <a:ext uri="{FF2B5EF4-FFF2-40B4-BE49-F238E27FC236}">
                <a16:creationId xmlns:a16="http://schemas.microsoft.com/office/drawing/2014/main" id="{C3E3E601-EE6E-F10D-E135-C09818C0FD86}"/>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Seasonal chocolate recipes and traceable cocoa campaigns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018541D1-F75D-F962-C1C9-02A426313D59}"/>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2025-04-30</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8B4F0C6E-ACC6-E865-78DF-514A3EB27973}"/>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Hershey described exceptional cocoa-price volatility in April 2025 and the need for sourcing agility.</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ED87E0B5-75E5-0C66-24F7-740B1B755460}"/>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C7656A7D-196D-974C-0806-443A191D082D}"/>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Origin holds and lower cocoa supply threaten a fixed seasonal deadline.
Try: Increase the capacity cut and test qualified alternate usage.</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27F51C8D-E999-BE0C-1116-3EE595CA9556}"/>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10 weeks    26,000 cartons/week    27% capacity cut    15%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8E884D59-361F-1E7D-F462-DFA1B688F34A}"/>
              </a:ext>
            </a:extLst>
          </p:cNvPr>
          <p:cNvGraphicFramePr>
            <a:graphicFrameLocks noGrp="1"/>
          </p:cNvGraphicFramePr>
          <p:nvPr>
            <p:extLst>
              <p:ext uri="{D42A27DB-BD31-4B8C-83A1-F6EECF244321}">
                <p14:modId xmlns:p14="http://schemas.microsoft.com/office/powerpoint/2010/main" val="1843870630"/>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2803676984"/>
                    </a:ext>
                  </a:extLst>
                </a:gridCol>
                <a:gridCol w="2633472">
                  <a:extLst>
                    <a:ext uri="{9D8B030D-6E8A-4147-A177-3AD203B41FA5}">
                      <a16:colId xmlns:a16="http://schemas.microsoft.com/office/drawing/2014/main" val="1108184709"/>
                    </a:ext>
                  </a:extLst>
                </a:gridCol>
                <a:gridCol w="2633472">
                  <a:extLst>
                    <a:ext uri="{9D8B030D-6E8A-4147-A177-3AD203B41FA5}">
                      <a16:colId xmlns:a16="http://schemas.microsoft.com/office/drawing/2014/main" val="604598645"/>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3774166410"/>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35.4%</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54.1%</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89699250"/>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$2.12M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$1.63M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515180149"/>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$2.19M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$1.69M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000406007"/>
                  </a:ext>
                </a:extLst>
              </a:tr>
            </a:tbl>
          </a:graphicData>
        </a:graphic>
      </p:graphicFrame>
      <p:sp>
        <p:nvSpPr>
          <p:cNvPr id="10" name="TextBox 9">
            <a:extLst>
              <a:ext uri="{FF2B5EF4-FFF2-40B4-BE49-F238E27FC236}">
                <a16:creationId xmlns:a16="http://schemas.microsoft.com/office/drawing/2014/main" id="{252E062E-0412-ECA4-F958-092FFE24850E}"/>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96%: fail. Budget: pass. Domain review: Check allergen sequencing, traceability model and the seasonal cutoff.</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6B898FCA-A11F-0CEE-2CFA-95160A923A0A}"/>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19</a:t>
            </a:r>
          </a:p>
        </p:txBody>
      </p:sp>
    </p:spTree>
    <p:extLst>
      <p:ext uri="{BB962C8B-B14F-4D97-AF65-F5344CB8AC3E}">
        <p14:creationId xmlns:p14="http://schemas.microsoft.com/office/powerpoint/2010/main" val="2291976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516FC0-C5C9-4E47-E1BA-EED9A1F855B7}"/>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TSMC: Qualified fab recovery</a:t>
            </a:r>
          </a:p>
        </p:txBody>
      </p:sp>
      <p:sp>
        <p:nvSpPr>
          <p:cNvPr id="3" name="TextBox 2">
            <a:extLst>
              <a:ext uri="{FF2B5EF4-FFF2-40B4-BE49-F238E27FC236}">
                <a16:creationId xmlns:a16="http://schemas.microsoft.com/office/drawing/2014/main" id="{1C681DB0-91F3-0A81-1C2D-A51D30AE4288}"/>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Priority wafer lots on qualified process and packaging routes</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B1313DE8-8793-AED0-605C-19B0D92835C6}"/>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2025-12-31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E9133B87-BA8B-CB7F-0F80-9BE92D0EE15A}"/>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TSMC reports 2025 managed manufacturing capacity above 17 million 12-inch-equivalent wafers and Arizona 4nm volume production beginning in Q4 2024.</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56438202-1759-6517-C688-19FD644437D9}"/>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AAFAB9D4-214A-4BC3-53FE-BA597C7FCB55}"/>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new hypothetical shock delays tool release, water supply and packaging.
Try: Increase disrupted-state persistence while keeping each row total at 1.</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CC1206FE-FFAA-4165-6229-4E94067C7C5C}"/>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12 weeks    1,400 wafer equivalents/week    23% capacity cut    8%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7EA14BE1-39DE-0DB4-3AEB-4BB124FF6431}"/>
              </a:ext>
            </a:extLst>
          </p:cNvPr>
          <p:cNvGraphicFramePr>
            <a:graphicFrameLocks noGrp="1"/>
          </p:cNvGraphicFramePr>
          <p:nvPr>
            <p:extLst>
              <p:ext uri="{D42A27DB-BD31-4B8C-83A1-F6EECF244321}">
                <p14:modId xmlns:p14="http://schemas.microsoft.com/office/powerpoint/2010/main" val="3824341009"/>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4268826476"/>
                    </a:ext>
                  </a:extLst>
                </a:gridCol>
                <a:gridCol w="2633472">
                  <a:extLst>
                    <a:ext uri="{9D8B030D-6E8A-4147-A177-3AD203B41FA5}">
                      <a16:colId xmlns:a16="http://schemas.microsoft.com/office/drawing/2014/main" val="1484844114"/>
                    </a:ext>
                  </a:extLst>
                </a:gridCol>
                <a:gridCol w="2633472">
                  <a:extLst>
                    <a:ext uri="{9D8B030D-6E8A-4147-A177-3AD203B41FA5}">
                      <a16:colId xmlns:a16="http://schemas.microsoft.com/office/drawing/2014/main" val="4002289449"/>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3307747988"/>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52.7%</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68.5%</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8258545"/>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$35.83M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$25.16M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972409368"/>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$38.6M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$27.86M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485224831"/>
                  </a:ext>
                </a:extLst>
              </a:tr>
            </a:tbl>
          </a:graphicData>
        </a:graphic>
      </p:graphicFrame>
      <p:sp>
        <p:nvSpPr>
          <p:cNvPr id="10" name="TextBox 9">
            <a:extLst>
              <a:ext uri="{FF2B5EF4-FFF2-40B4-BE49-F238E27FC236}">
                <a16:creationId xmlns:a16="http://schemas.microsoft.com/office/drawing/2014/main" id="{5B578095-5334-0205-9E73-B025D331DAC5}"/>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93%: fail. Budget: pass. Domain review: Keep safety-held tools unavailable and verify recipe and packaging eligibility.</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58EC7F0D-58FD-8788-1B56-3E0523BF348F}"/>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20</a:t>
            </a:r>
          </a:p>
        </p:txBody>
      </p:sp>
    </p:spTree>
    <p:extLst>
      <p:ext uri="{BB962C8B-B14F-4D97-AF65-F5344CB8AC3E}">
        <p14:creationId xmlns:p14="http://schemas.microsoft.com/office/powerpoint/2010/main" val="1883064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10C507-581C-B562-2367-4034CD0D96E4}"/>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Airbus: Aircraft programme flow</a:t>
            </a:r>
          </a:p>
        </p:txBody>
      </p:sp>
      <p:sp>
        <p:nvSpPr>
          <p:cNvPr id="3" name="TextBox 2">
            <a:extLst>
              <a:ext uri="{FF2B5EF4-FFF2-40B4-BE49-F238E27FC236}">
                <a16:creationId xmlns:a16="http://schemas.microsoft.com/office/drawing/2014/main" id="{8B2089AD-76C6-9754-C65C-2880A3FAD40C}"/>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IN" sz="2000">
                <a:solidFill>
                  <a:srgbClr val="BEC7C6"/>
                </a:solidFill>
                <a:latin typeface="Arial" panose="020B0604020202020204" pitchFamily="34" charset="0"/>
              </a:rPr>
              <a:t>Configuration-complete commercial aircraft delivery sets</a:t>
            </a:r>
          </a:p>
        </p:txBody>
      </p:sp>
      <p:sp>
        <p:nvSpPr>
          <p:cNvPr id="4" name="TextBox 3">
            <a:extLst>
              <a:ext uri="{FF2B5EF4-FFF2-40B4-BE49-F238E27FC236}">
                <a16:creationId xmlns:a16="http://schemas.microsoft.com/office/drawing/2014/main" id="{925139EF-8A40-0800-DD55-D4364DA6CC90}"/>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2025-12-31</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B5F62332-F720-2DCE-C581-FEC50AEE1EAC}"/>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Airbus delivered 793 commercial aircraft to 91 customers in 2025 and ended the year with 8,754 aircraft in backlog.</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88BB38E0-52FC-F253-F233-7047CB7D17BA}"/>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6166609A-5099-4CBB-C79E-E63050477140}"/>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Engine-set and certified-forging delays create incomplete airframes.
Try: Delay alternate release and compare the severe-loss tail.</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9FF6A65C-9FA0-0CF0-249F-643AF7F7BEAF}"/>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12 weeks    14 aircraft sets/week    25% capacity cut    5%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A6FFAF7A-EF57-FCAB-CD50-3CAAE8F3AF1B}"/>
              </a:ext>
            </a:extLst>
          </p:cNvPr>
          <p:cNvGraphicFramePr>
            <a:graphicFrameLocks noGrp="1"/>
          </p:cNvGraphicFramePr>
          <p:nvPr>
            <p:extLst>
              <p:ext uri="{D42A27DB-BD31-4B8C-83A1-F6EECF244321}">
                <p14:modId xmlns:p14="http://schemas.microsoft.com/office/powerpoint/2010/main" val="1826943929"/>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1325431049"/>
                    </a:ext>
                  </a:extLst>
                </a:gridCol>
                <a:gridCol w="2633472">
                  <a:extLst>
                    <a:ext uri="{9D8B030D-6E8A-4147-A177-3AD203B41FA5}">
                      <a16:colId xmlns:a16="http://schemas.microsoft.com/office/drawing/2014/main" val="1956344989"/>
                    </a:ext>
                  </a:extLst>
                </a:gridCol>
                <a:gridCol w="2633472">
                  <a:extLst>
                    <a:ext uri="{9D8B030D-6E8A-4147-A177-3AD203B41FA5}">
                      <a16:colId xmlns:a16="http://schemas.microsoft.com/office/drawing/2014/main" val="3377957031"/>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2927127866"/>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63.8%</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84.1%</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93283689"/>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$119.94M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$56.8M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401892809"/>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$132.14M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$69.23M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3803305431"/>
                  </a:ext>
                </a:extLst>
              </a:tr>
            </a:tbl>
          </a:graphicData>
        </a:graphic>
      </p:graphicFrame>
      <p:sp>
        <p:nvSpPr>
          <p:cNvPr id="10" name="TextBox 9">
            <a:extLst>
              <a:ext uri="{FF2B5EF4-FFF2-40B4-BE49-F238E27FC236}">
                <a16:creationId xmlns:a16="http://schemas.microsoft.com/office/drawing/2014/main" id="{DACB2FDC-8B37-121F-CE41-5C0BF715F921}"/>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92%: fail. Budget: pass. Domain review: Check complete certified kits, flight-test slots and parked-airframe limits.</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03E67627-663D-8037-9FA9-AD38F505C4DB}"/>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21</a:t>
            </a:r>
          </a:p>
        </p:txBody>
      </p:sp>
    </p:spTree>
    <p:extLst>
      <p:ext uri="{BB962C8B-B14F-4D97-AF65-F5344CB8AC3E}">
        <p14:creationId xmlns:p14="http://schemas.microsoft.com/office/powerpoint/2010/main" val="195180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1E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6C92FF-17C8-ABC0-CF37-11E77F23D5BF}"/>
              </a:ext>
            </a:extLst>
          </p:cNvPr>
          <p:cNvSpPr txBox="1"/>
          <p:nvPr/>
        </p:nvSpPr>
        <p:spPr>
          <a:xfrm>
            <a:off x="609600" y="368300"/>
            <a:ext cx="10972800" cy="276999"/>
          </a:xfrm>
          <a:prstGeom prst="rect">
            <a:avLst/>
          </a:prstGeom>
          <a:noFill/>
        </p:spPr>
        <p:txBody>
          <a:bodyPr vert="horz" wrap="square" lIns="0" tIns="0" rIns="0" bIns="0" rtlCol="0">
            <a:noAutofit/>
          </a:bodyPr>
          <a:lstStyle/>
          <a:p>
            <a:r>
              <a:rPr lang="en-IN" sz="3200" b="1">
                <a:solidFill>
                  <a:srgbClr val="F2F6F6"/>
                </a:solidFill>
                <a:latin typeface="Arial" panose="020B0604020202020204" pitchFamily="34" charset="0"/>
              </a:rPr>
              <a:t>Pfizer: Validated medicine supply</a:t>
            </a:r>
          </a:p>
        </p:txBody>
      </p:sp>
      <p:sp>
        <p:nvSpPr>
          <p:cNvPr id="3" name="TextBox 2">
            <a:extLst>
              <a:ext uri="{FF2B5EF4-FFF2-40B4-BE49-F238E27FC236}">
                <a16:creationId xmlns:a16="http://schemas.microsoft.com/office/drawing/2014/main" id="{3928765E-2AE3-E4F1-ECE2-20326C4F166D}"/>
              </a:ext>
            </a:extLst>
          </p:cNvPr>
          <p:cNvSpPr txBox="1"/>
          <p:nvPr/>
        </p:nvSpPr>
        <p:spPr>
          <a:xfrm>
            <a:off x="609600" y="1193800"/>
            <a:ext cx="10972800" cy="276999"/>
          </a:xfrm>
          <a:prstGeom prst="rect">
            <a:avLst/>
          </a:prstGeom>
          <a:noFill/>
        </p:spPr>
        <p:txBody>
          <a:bodyPr vert="horz" wrap="square" lIns="0" tIns="0" rIns="0" bIns="0" rtlCol="0">
            <a:noAutofit/>
          </a:bodyPr>
          <a:lstStyle/>
          <a:p>
            <a:r>
              <a:rPr lang="en-US" sz="2000">
                <a:solidFill>
                  <a:srgbClr val="BEC7C6"/>
                </a:solidFill>
                <a:latin typeface="Arial" panose="020B0604020202020204" pitchFamily="34" charset="0"/>
              </a:rPr>
              <a:t>Validated medicine batches and temperature-qualified distribution</a:t>
            </a:r>
            <a:endParaRPr lang="en-IN" sz="2000">
              <a:solidFill>
                <a:srgbClr val="BEC7C6"/>
              </a:solidFill>
              <a:latin typeface="Arial" panose="020B0604020202020204" pitchFamily="34" charset="0"/>
            </a:endParaRPr>
          </a:p>
        </p:txBody>
      </p:sp>
      <p:sp>
        <p:nvSpPr>
          <p:cNvPr id="4" name="TextBox 3">
            <a:extLst>
              <a:ext uri="{FF2B5EF4-FFF2-40B4-BE49-F238E27FC236}">
                <a16:creationId xmlns:a16="http://schemas.microsoft.com/office/drawing/2014/main" id="{CEF37CA7-5DA9-A6BF-FD79-76332B472FA5}"/>
              </a:ext>
            </a:extLst>
          </p:cNvPr>
          <p:cNvSpPr txBox="1"/>
          <p:nvPr/>
        </p:nvSpPr>
        <p:spPr>
          <a:xfrm>
            <a:off x="609600" y="1917700"/>
            <a:ext cx="5067300" cy="276999"/>
          </a:xfrm>
          <a:prstGeom prst="rect">
            <a:avLst/>
          </a:prstGeom>
          <a:noFill/>
        </p:spPr>
        <p:txBody>
          <a:bodyPr vert="horz" wrap="square" lIns="0" tIns="0" rIns="0" bIns="0" rtlCol="0">
            <a:noAutofit/>
          </a:bodyPr>
          <a:lstStyle/>
          <a:p>
            <a:r>
              <a:rPr lang="en-US" sz="1500" b="1">
                <a:solidFill>
                  <a:srgbClr val="D7FF38"/>
                </a:solidFill>
                <a:latin typeface="Arial" panose="020B0604020202020204" pitchFamily="34" charset="0"/>
              </a:rPr>
              <a:t>Public context as of 2024-05-28</a:t>
            </a:r>
            <a:endParaRPr lang="en-IN" sz="1500" b="1">
              <a:solidFill>
                <a:srgbClr val="D7FF38"/>
              </a:solidFill>
              <a:latin typeface="Arial" panose="020B0604020202020204" pitchFamily="34" charset="0"/>
            </a:endParaRPr>
          </a:p>
        </p:txBody>
      </p:sp>
      <p:sp>
        <p:nvSpPr>
          <p:cNvPr id="5" name="TextBox 4">
            <a:extLst>
              <a:ext uri="{FF2B5EF4-FFF2-40B4-BE49-F238E27FC236}">
                <a16:creationId xmlns:a16="http://schemas.microsoft.com/office/drawing/2014/main" id="{B3410F7D-1017-AC63-9025-4D5506069031}"/>
              </a:ext>
            </a:extLst>
          </p:cNvPr>
          <p:cNvSpPr txBox="1"/>
          <p:nvPr/>
        </p:nvSpPr>
        <p:spPr>
          <a:xfrm>
            <a:off x="609600" y="2349500"/>
            <a:ext cx="50800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Health Canada's May 2024 update states the immediate tornado impacts were remediated and commercial production of all affected products had resumed.</a:t>
            </a:r>
            <a:endParaRPr lang="en-IN" sz="1900">
              <a:solidFill>
                <a:srgbClr val="F2F6F6"/>
              </a:solidFill>
              <a:latin typeface="Arial" panose="020B0604020202020204" pitchFamily="34" charset="0"/>
            </a:endParaRPr>
          </a:p>
        </p:txBody>
      </p:sp>
      <p:sp>
        <p:nvSpPr>
          <p:cNvPr id="6" name="TextBox 5">
            <a:extLst>
              <a:ext uri="{FF2B5EF4-FFF2-40B4-BE49-F238E27FC236}">
                <a16:creationId xmlns:a16="http://schemas.microsoft.com/office/drawing/2014/main" id="{762A5552-7DB6-BF2F-A2F6-DD8A7D4C2C7F}"/>
              </a:ext>
            </a:extLst>
          </p:cNvPr>
          <p:cNvSpPr txBox="1"/>
          <p:nvPr/>
        </p:nvSpPr>
        <p:spPr>
          <a:xfrm>
            <a:off x="6261100" y="1917700"/>
            <a:ext cx="5321300" cy="276999"/>
          </a:xfrm>
          <a:prstGeom prst="rect">
            <a:avLst/>
          </a:prstGeom>
          <a:noFill/>
        </p:spPr>
        <p:txBody>
          <a:bodyPr vert="horz" wrap="square" lIns="0" tIns="0" rIns="0" bIns="0" rtlCol="0">
            <a:noAutofit/>
          </a:bodyPr>
          <a:lstStyle/>
          <a:p>
            <a:r>
              <a:rPr lang="en-IN" sz="1500" b="1">
                <a:solidFill>
                  <a:srgbClr val="D7FF38"/>
                </a:solidFill>
                <a:latin typeface="Arial" panose="020B0604020202020204" pitchFamily="34" charset="0"/>
              </a:rPr>
              <a:t>Modeled experiment</a:t>
            </a:r>
          </a:p>
        </p:txBody>
      </p:sp>
      <p:sp>
        <p:nvSpPr>
          <p:cNvPr id="7" name="TextBox 6">
            <a:extLst>
              <a:ext uri="{FF2B5EF4-FFF2-40B4-BE49-F238E27FC236}">
                <a16:creationId xmlns:a16="http://schemas.microsoft.com/office/drawing/2014/main" id="{DB8C6DF0-B16C-2E01-4E1C-53AABE4E0F09}"/>
              </a:ext>
            </a:extLst>
          </p:cNvPr>
          <p:cNvSpPr txBox="1"/>
          <p:nvPr/>
        </p:nvSpPr>
        <p:spPr>
          <a:xfrm>
            <a:off x="6261100" y="2349500"/>
            <a:ext cx="5321300" cy="276999"/>
          </a:xfrm>
          <a:prstGeom prst="rect">
            <a:avLst/>
          </a:prstGeom>
          <a:noFill/>
        </p:spPr>
        <p:txBody>
          <a:bodyPr vert="horz" wrap="square" lIns="0" tIns="0" rIns="0" bIns="0" rtlCol="0">
            <a:noAutofit/>
          </a:bodyPr>
          <a:lstStyle/>
          <a:p>
            <a:r>
              <a:rPr lang="en-US" sz="1900">
                <a:solidFill>
                  <a:srgbClr val="F2F6F6"/>
                </a:solidFill>
                <a:latin typeface="Arial" panose="020B0604020202020204" pitchFamily="34" charset="0"/>
              </a:rPr>
              <a:t>A hypothetical API interruption overlaps constrained validated distribution.
Try: Reduce yield and compare service against the 98% floor.</a:t>
            </a:r>
            <a:endParaRPr lang="en-IN" sz="1900">
              <a:solidFill>
                <a:srgbClr val="F2F6F6"/>
              </a:solidFill>
              <a:latin typeface="Arial" panose="020B0604020202020204" pitchFamily="34" charset="0"/>
            </a:endParaRPr>
          </a:p>
        </p:txBody>
      </p:sp>
      <p:sp>
        <p:nvSpPr>
          <p:cNvPr id="8" name="TextBox 7">
            <a:extLst>
              <a:ext uri="{FF2B5EF4-FFF2-40B4-BE49-F238E27FC236}">
                <a16:creationId xmlns:a16="http://schemas.microsoft.com/office/drawing/2014/main" id="{85D8D3CE-9A77-13FC-CAB2-F73465179764}"/>
              </a:ext>
            </a:extLst>
          </p:cNvPr>
          <p:cNvSpPr txBox="1"/>
          <p:nvPr/>
        </p:nvSpPr>
        <p:spPr>
          <a:xfrm>
            <a:off x="609600" y="3873500"/>
            <a:ext cx="10972800" cy="276999"/>
          </a:xfrm>
          <a:prstGeom prst="rect">
            <a:avLst/>
          </a:prstGeom>
          <a:noFill/>
        </p:spPr>
        <p:txBody>
          <a:bodyPr vert="horz" wrap="square" lIns="0" tIns="0" rIns="0" bIns="0" rtlCol="0">
            <a:noAutofit/>
          </a:bodyPr>
          <a:lstStyle/>
          <a:p>
            <a:r>
              <a:rPr lang="en-US" sz="1600">
                <a:solidFill>
                  <a:srgbClr val="BEC7C6"/>
                </a:solidFill>
                <a:latin typeface="Arial" panose="020B0604020202020204" pitchFamily="34" charset="0"/>
              </a:rPr>
              <a:t>10 weeks    85 released batches/week    31% capacity cut    16% demand rise</a:t>
            </a:r>
            <a:endParaRPr lang="en-IN" sz="1600">
              <a:solidFill>
                <a:srgbClr val="BEC7C6"/>
              </a:solidFill>
              <a:latin typeface="Arial" panose="020B0604020202020204" pitchFamily="34" charset="0"/>
            </a:endParaRPr>
          </a:p>
        </p:txBody>
      </p:sp>
      <p:graphicFrame>
        <p:nvGraphicFramePr>
          <p:cNvPr id="9" name="Table 8">
            <a:extLst>
              <a:ext uri="{FF2B5EF4-FFF2-40B4-BE49-F238E27FC236}">
                <a16:creationId xmlns:a16="http://schemas.microsoft.com/office/drawing/2014/main" id="{64CDB4E8-880A-7291-C74E-A8F4FA588E85}"/>
              </a:ext>
            </a:extLst>
          </p:cNvPr>
          <p:cNvGraphicFramePr>
            <a:graphicFrameLocks noGrp="1"/>
          </p:cNvGraphicFramePr>
          <p:nvPr>
            <p:extLst>
              <p:ext uri="{D42A27DB-BD31-4B8C-83A1-F6EECF244321}">
                <p14:modId xmlns:p14="http://schemas.microsoft.com/office/powerpoint/2010/main" val="885580675"/>
              </p:ext>
            </p:extLst>
          </p:nvPr>
        </p:nvGraphicFramePr>
        <p:xfrm>
          <a:off x="609600" y="4419600"/>
          <a:ext cx="10972800" cy="1625600"/>
        </p:xfrm>
        <a:graphic>
          <a:graphicData uri="http://schemas.openxmlformats.org/drawingml/2006/table">
            <a:tbl>
              <a:tblPr firstRow="1" bandRow="1">
                <a:tableStyleId>{5C22544A-7EE6-4342-B048-85BDC9FD1C3A}</a:tableStyleId>
              </a:tblPr>
              <a:tblGrid>
                <a:gridCol w="5705856">
                  <a:extLst>
                    <a:ext uri="{9D8B030D-6E8A-4147-A177-3AD203B41FA5}">
                      <a16:colId xmlns:a16="http://schemas.microsoft.com/office/drawing/2014/main" val="2016478606"/>
                    </a:ext>
                  </a:extLst>
                </a:gridCol>
                <a:gridCol w="2633472">
                  <a:extLst>
                    <a:ext uri="{9D8B030D-6E8A-4147-A177-3AD203B41FA5}">
                      <a16:colId xmlns:a16="http://schemas.microsoft.com/office/drawing/2014/main" val="890716001"/>
                    </a:ext>
                  </a:extLst>
                </a:gridCol>
                <a:gridCol w="2633472">
                  <a:extLst>
                    <a:ext uri="{9D8B030D-6E8A-4147-A177-3AD203B41FA5}">
                      <a16:colId xmlns:a16="http://schemas.microsoft.com/office/drawing/2014/main" val="211661413"/>
                    </a:ext>
                  </a:extLst>
                </a:gridCol>
              </a:tblGrid>
              <a:tr h="406400">
                <a:tc>
                  <a:txBody>
                    <a:bodyPr/>
                    <a:lstStyle/>
                    <a:p>
                      <a:pPr>
                        <a:spcAft>
                          <a:spcPts val="0"/>
                        </a:spcAft>
                      </a:pPr>
                      <a:r>
                        <a:rPr lang="en-IN" sz="1800" b="1">
                          <a:solidFill>
                            <a:srgbClr val="D7FF38"/>
                          </a:solidFill>
                          <a:latin typeface="Arial" panose="020B0604020202020204" pitchFamily="34" charset="0"/>
                        </a:rPr>
                        <a:t>Aggregate equivalent flow</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Baseline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tc>
                  <a:txBody>
                    <a:bodyPr/>
                    <a:lstStyle/>
                    <a:p>
                      <a:pPr>
                        <a:spcAft>
                          <a:spcPts val="0"/>
                        </a:spcAft>
                      </a:pPr>
                      <a:r>
                        <a:rPr lang="en-IN" sz="1800" b="1">
                          <a:solidFill>
                            <a:srgbClr val="D7FF38"/>
                          </a:solidFill>
                          <a:latin typeface="Arial" panose="020B0604020202020204" pitchFamily="34" charset="0"/>
                        </a:rPr>
                        <a:t>Response</a:t>
                      </a:r>
                    </a:p>
                  </a:txBody>
                  <a:tcPr marL="101600" marR="101600" marT="50800" marB="38100" anchor="ctr">
                    <a:lnL w="12700" cmpd="sng">
                      <a:solidFill>
                        <a:schemeClr val="lt1"/>
                      </a:solidFill>
                    </a:lnL>
                    <a:lnR w="12700" cmpd="sng">
                      <a:solidFill>
                        <a:schemeClr val="lt1"/>
                      </a:solidFill>
                    </a:lnR>
                    <a:lnT w="12700" cmpd="sng">
                      <a:solidFill>
                        <a:schemeClr val="lt1"/>
                      </a:solidFill>
                    </a:lnT>
                    <a:lnB w="6350" cmpd="sng">
                      <a:solidFill>
                        <a:srgbClr val="4C5555"/>
                      </a:solidFill>
                    </a:lnB>
                    <a:solidFill>
                      <a:srgbClr val="1B1E20"/>
                    </a:solidFill>
                  </a:tcPr>
                </a:tc>
                <a:extLst>
                  <a:ext uri="{0D108BD9-81ED-4DB2-BD59-A6C34878D82A}">
                    <a16:rowId xmlns:a16="http://schemas.microsoft.com/office/drawing/2014/main" val="1680004229"/>
                  </a:ext>
                </a:extLst>
              </a:tr>
              <a:tr h="406400">
                <a:tc>
                  <a:txBody>
                    <a:bodyPr/>
                    <a:lstStyle/>
                    <a:p>
                      <a:pPr>
                        <a:spcAft>
                          <a:spcPts val="0"/>
                        </a:spcAft>
                      </a:pPr>
                      <a:r>
                        <a:rPr lang="en-IN" sz="1800" b="0">
                          <a:solidFill>
                            <a:srgbClr val="F2F6F6"/>
                          </a:solidFill>
                          <a:latin typeface="Arial" panose="020B0604020202020204" pitchFamily="34" charset="0"/>
                        </a:rPr>
                        <a:t>P05 service</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39.1%</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58.2%</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722236876"/>
                  </a:ext>
                </a:extLst>
              </a:tr>
              <a:tr h="406400">
                <a:tc>
                  <a:txBody>
                    <a:bodyPr/>
                    <a:lstStyle/>
                    <a:p>
                      <a:pPr>
                        <a:spcAft>
                          <a:spcPts val="0"/>
                        </a:spcAft>
                      </a:pPr>
                      <a:r>
                        <a:rPr lang="en-IN" sz="1800" b="0">
                          <a:solidFill>
                            <a:srgbClr val="F2F6F6"/>
                          </a:solidFill>
                          <a:latin typeface="Arial" panose="020B0604020202020204" pitchFamily="34" charset="0"/>
                        </a:rPr>
                        <a:t>P95 loss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$45.01M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$32.74M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1070125408"/>
                  </a:ext>
                </a:extLst>
              </a:tr>
              <a:tr h="406400">
                <a:tc>
                  <a:txBody>
                    <a:bodyPr/>
                    <a:lstStyle/>
                    <a:p>
                      <a:pPr>
                        <a:spcAft>
                          <a:spcPts val="0"/>
                        </a:spcAft>
                      </a:pPr>
                      <a:r>
                        <a:rPr lang="en-IN" sz="1800" b="0">
                          <a:solidFill>
                            <a:srgbClr val="F2F6F6"/>
                          </a:solidFill>
                          <a:latin typeface="Arial" panose="020B0604020202020204" pitchFamily="34" charset="0"/>
                        </a:rPr>
                        <a:t>CVaR95 / modeled USD</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$47.25M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tc>
                  <a:txBody>
                    <a:bodyPr/>
                    <a:lstStyle/>
                    <a:p>
                      <a:pPr>
                        <a:spcAft>
                          <a:spcPts val="0"/>
                        </a:spcAft>
                      </a:pPr>
                      <a:r>
                        <a:rPr lang="en-IN" sz="1800" b="0">
                          <a:solidFill>
                            <a:srgbClr val="F2F6F6"/>
                          </a:solidFill>
                          <a:latin typeface="Arial" panose="020B0604020202020204" pitchFamily="34" charset="0"/>
                        </a:rPr>
                        <a:t>$34.98M</a:t>
                      </a:r>
                    </a:p>
                  </a:txBody>
                  <a:tcPr marL="101600" marR="101600" marT="50800" marB="38100" anchor="ctr">
                    <a:lnL w="12700" cmpd="sng">
                      <a:solidFill>
                        <a:schemeClr val="lt1"/>
                      </a:solidFill>
                    </a:lnL>
                    <a:lnR w="12700" cmpd="sng">
                      <a:solidFill>
                        <a:schemeClr val="lt1"/>
                      </a:solidFill>
                    </a:lnR>
                    <a:lnT w="6350" cmpd="sng">
                      <a:solidFill>
                        <a:srgbClr val="4C5555"/>
                      </a:solidFill>
                    </a:lnT>
                    <a:lnB w="6350" cmpd="sng">
                      <a:solidFill>
                        <a:srgbClr val="4C5555"/>
                      </a:solidFill>
                    </a:lnB>
                    <a:solidFill>
                      <a:srgbClr val="1B1E20"/>
                    </a:solidFill>
                  </a:tcPr>
                </a:tc>
                <a:extLst>
                  <a:ext uri="{0D108BD9-81ED-4DB2-BD59-A6C34878D82A}">
                    <a16:rowId xmlns:a16="http://schemas.microsoft.com/office/drawing/2014/main" val="2500991882"/>
                  </a:ext>
                </a:extLst>
              </a:tr>
            </a:tbl>
          </a:graphicData>
        </a:graphic>
      </p:graphicFrame>
      <p:sp>
        <p:nvSpPr>
          <p:cNvPr id="10" name="TextBox 9">
            <a:extLst>
              <a:ext uri="{FF2B5EF4-FFF2-40B4-BE49-F238E27FC236}">
                <a16:creationId xmlns:a16="http://schemas.microsoft.com/office/drawing/2014/main" id="{CB48F329-0C70-D45A-0E53-5AAF9CEBDA56}"/>
              </a:ext>
            </a:extLst>
          </p:cNvPr>
          <p:cNvSpPr txBox="1"/>
          <p:nvPr/>
        </p:nvSpPr>
        <p:spPr>
          <a:xfrm>
            <a:off x="609600" y="6210300"/>
            <a:ext cx="10744200" cy="276999"/>
          </a:xfrm>
          <a:prstGeom prst="rect">
            <a:avLst/>
          </a:prstGeom>
          <a:noFill/>
        </p:spPr>
        <p:txBody>
          <a:bodyPr vert="horz" wrap="square" lIns="0" tIns="0" rIns="0" bIns="0" rtlCol="0">
            <a:noAutofit/>
          </a:bodyPr>
          <a:lstStyle/>
          <a:p>
            <a:r>
              <a:rPr lang="en-US" sz="1300">
                <a:solidFill>
                  <a:srgbClr val="BEC7C6"/>
                </a:solidFill>
                <a:latin typeface="Arial" panose="020B0604020202020204" pitchFamily="34" charset="0"/>
              </a:rPr>
              <a:t>P05 floor 98%: fail. Budget: pass. Domain review: Check QA release and validated lanes. Clinical allocation follows approved policy.</a:t>
            </a:r>
            <a:endParaRPr lang="en-IN" sz="1300">
              <a:solidFill>
                <a:srgbClr val="BEC7C6"/>
              </a:solidFill>
              <a:latin typeface="Arial" panose="020B0604020202020204" pitchFamily="34" charset="0"/>
            </a:endParaRPr>
          </a:p>
        </p:txBody>
      </p:sp>
      <p:sp>
        <p:nvSpPr>
          <p:cNvPr id="11" name="TextBox 10">
            <a:extLst>
              <a:ext uri="{FF2B5EF4-FFF2-40B4-BE49-F238E27FC236}">
                <a16:creationId xmlns:a16="http://schemas.microsoft.com/office/drawing/2014/main" id="{1FD12A40-F40B-C1C1-8A7C-F8C8ADD29F91}"/>
              </a:ext>
            </a:extLst>
          </p:cNvPr>
          <p:cNvSpPr txBox="1"/>
          <p:nvPr/>
        </p:nvSpPr>
        <p:spPr>
          <a:xfrm>
            <a:off x="11671300" y="6502400"/>
            <a:ext cx="330200" cy="276999"/>
          </a:xfrm>
          <a:prstGeom prst="rect">
            <a:avLst/>
          </a:prstGeom>
          <a:noFill/>
        </p:spPr>
        <p:txBody>
          <a:bodyPr vert="horz" wrap="square" lIns="0" tIns="0" rIns="0" bIns="0" rtlCol="0">
            <a:noAutofit/>
          </a:bodyPr>
          <a:lstStyle/>
          <a:p>
            <a:r>
              <a:rPr lang="en-IN" sz="1000">
                <a:solidFill>
                  <a:srgbClr val="BEC7C6"/>
                </a:solidFill>
                <a:latin typeface="Arial" panose="020B0604020202020204" pitchFamily="34" charset="0"/>
              </a:rPr>
              <a:t>22</a:t>
            </a:r>
          </a:p>
        </p:txBody>
      </p:sp>
    </p:spTree>
    <p:extLst>
      <p:ext uri="{BB962C8B-B14F-4D97-AF65-F5344CB8AC3E}">
        <p14:creationId xmlns:p14="http://schemas.microsoft.com/office/powerpoint/2010/main" val="8466786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9200</Words>
  <Application>Microsoft Office PowerPoint</Application>
  <PresentationFormat>Widescreen</PresentationFormat>
  <Paragraphs>403</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Kearney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Roy, Aakash</dc:creator>
  <cp:lastModifiedBy>Roy, Aakash</cp:lastModifiedBy>
  <cp:revision>2</cp:revision>
  <dcterms:created xsi:type="dcterms:W3CDTF">2026-09-09T13:25:48Z</dcterms:created>
  <dcterms:modified xsi:type="dcterms:W3CDTF">2026-09-09T13:40:05Z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e815a84-bb14-486b-9367-c1af54c95fa4_Enabled">
    <vt:lpwstr>true</vt:lpwstr>
  </property>
  <property fmtid="{D5CDD505-2E9C-101B-9397-08002B2CF9AE}" pid="3" name="MSIP_Label_0e815a84-bb14-486b-9367-c1af54c95fa4_SetDate">
    <vt:lpwstr>2026-09-09T13:25:48Z</vt:lpwstr>
  </property>
  <property fmtid="{D5CDD505-2E9C-101B-9397-08002B2CF9AE}" pid="4" name="MSIP_Label_0e815a84-bb14-486b-9367-c1af54c95fa4_Method">
    <vt:lpwstr>Standard</vt:lpwstr>
  </property>
  <property fmtid="{D5CDD505-2E9C-101B-9397-08002B2CF9AE}" pid="5" name="MSIP_Label_0e815a84-bb14-486b-9367-c1af54c95fa4_Name">
    <vt:lpwstr>Standard</vt:lpwstr>
  </property>
  <property fmtid="{D5CDD505-2E9C-101B-9397-08002B2CF9AE}" pid="6" name="MSIP_Label_0e815a84-bb14-486b-9367-c1af54c95fa4_SiteId">
    <vt:lpwstr>5dc645ed-297f-4dca-b0af-2339c71c5388</vt:lpwstr>
  </property>
  <property fmtid="{D5CDD505-2E9C-101B-9397-08002B2CF9AE}" pid="7" name="MSIP_Label_0e815a84-bb14-486b-9367-c1af54c95fa4_ActionId">
    <vt:lpwstr>69096c3b-e775-415e-b8bc-e5d00e3ece7a</vt:lpwstr>
  </property>
  <property fmtid="{D5CDD505-2E9C-101B-9397-08002B2CF9AE}" pid="8" name="MSIP_Label_0e815a84-bb14-486b-9367-c1af54c95fa4_ContentBits">
    <vt:lpwstr>0</vt:lpwstr>
  </property>
  <property fmtid="{D5CDD505-2E9C-101B-9397-08002B2CF9AE}" pid="9" name="MSIP_Label_0e815a84-bb14-486b-9367-c1af54c95fa4_Tag">
    <vt:lpwstr>10, 3, 0, 1</vt:lpwstr>
  </property>
</Properties>
</file>